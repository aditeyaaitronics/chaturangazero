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spPr>
            <a:solidFill>
              <a:srgbClr val="000000"/>
            </a:solidFill>
          </c:spPr>
          <c:cat>
            <c:strRef>
              <c:f>Sheet1!$A$2:$A$6</c:f>
              <c:strCache>
                <c:ptCount val="5"/>
                <c:pt idx="0">
                  <c:v>Padati ♙</c:v>
                </c:pt>
                <c:pt idx="1">
                  <c:v>Mantri ♕</c:v>
                </c:pt>
                <c:pt idx="2">
                  <c:v>Gaja ♗</c:v>
                </c:pt>
                <c:pt idx="3">
                  <c:v>Ashva ♘</c:v>
                </c:pt>
                <c:pt idx="4">
                  <c:v>Ratha ♖</c:v>
                </c:pt>
              </c:strCache>
            </c:strRef>
          </c:cat>
          <c:val>
            <c:numRef>
              <c:f>Sheet1!$B$2:$B$6</c:f>
              <c:numCache>
                <c:formatCode>General</c:formatCode>
                <c:ptCount val="5"/>
                <c:pt idx="0">
                  <c:v>1.0</c:v>
                </c:pt>
                <c:pt idx="1">
                  <c:v>1.5</c:v>
                </c:pt>
                <c:pt idx="2">
                  <c:v>1.5</c:v>
                </c:pt>
                <c:pt idx="3">
                  <c:v>3.0</c:v>
                </c:pt>
                <c:pt idx="4">
                  <c:v>5.0</c:v>
                </c:pt>
              </c:numCache>
            </c:numRef>
          </c:val>
        </c:ser>
        <c:dLbls>
          <c:numFmt formatCode="0.0" sourceLinked="0"/>
          <c:txPr>
            <a:bodyPr/>
            <a:lstStyle/>
            <a:p>
              <a:pPr>
                <a:defRPr sz="11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A6A6A6"/>
            </a:solidFill>
          </a:ln>
        </c:spPr>
        <c:txPr>
          <a:bodyPr/>
          <a:lstStyle/>
          <a:p>
            <a:pPr>
              <a:defRPr sz="11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100">
          <a:solidFill>
            <a:srgbClr val="1A1A1A"/>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Games / hour</c:v>
                </c:pt>
              </c:strCache>
            </c:strRef>
          </c:tx>
          <c:spPr>
            <a:solidFill>
              <a:srgbClr val="000000"/>
            </a:solidFill>
          </c:spPr>
          <c:cat>
            <c:strRef>
              <c:f>Sheet1!$A$2:$A$3</c:f>
              <c:strCache>
                <c:ptCount val="2"/>
                <c:pt idx="0">
                  <c:v>Naive, batch-1</c:v>
                </c:pt>
                <c:pt idx="1">
                  <c:v>Parallel batched</c:v>
                </c:pt>
              </c:strCache>
            </c:strRef>
          </c:cat>
          <c:val>
            <c:numRef>
              <c:f>Sheet1!$B$2:$B$3</c:f>
              <c:numCache>
                <c:formatCode>General</c:formatCode>
                <c:ptCount val="2"/>
                <c:pt idx="0">
                  <c:v>25</c:v>
                </c:pt>
                <c:pt idx="1">
                  <c:v>900</c:v>
                </c:pt>
              </c:numCache>
            </c:numRef>
          </c:val>
        </c:ser>
        <c:dLbls>
          <c:txPr>
            <a:bodyPr/>
            <a:lstStyle/>
            <a:p>
              <a:pPr>
                <a:defRPr sz="11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A6A6A6"/>
            </a:solidFill>
          </a:ln>
        </c:spPr>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100">
          <a:solidFill>
            <a:srgbClr val="1A1A1A"/>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ChaturangaZero is a self-play AlphaZero agent for Chaturanga, the Indian ancestor of chess. The agent receives only the rules and improves by playing itself. Our research surfaced structural facts absent from the original proposal: the Gaja (elephant) leaps exactly two squares diagonally, so it is confined to one of eight disjoint 8-square orbits for the whole game (circled on the board); the Ratha is the only sliding piece; and with no check rule the Raja is an active, capturable piece. Piece values therefore differ sharply from chess, with the Mantri second-weakest.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froze the authentic ruleset in RULES.md; changes need sign-off from all four students. Removing check deletes the four largest sources of chess move-generation bugs (castling, en passant, pins, check evasion), so every pseudo-legal move is legal. The state is fully Markov, giving a compact 14-plane input and a clean 4,096 action space, and mirror augmentation becomes valid. Bare-king-loses makes games decisive. The one hazard is that no rule forces a game to end; the 300-ply cap is treated as a hard invariant and capped games are adjudicated on material (margin 4). The terminal ladder must be evaluated in this exact order: King-vs-King before bare king, and stalemate returns +1 to the stalemated player.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iteration generates 1,000 self-play games, trains 2,000 gradient steps on a 1M-position replay buffer, and every fifth iteration runs a 60-game arena; the challenger is promoted only at 55% or better, which makes a bad update recoverable. MCTS uses the policy head as the prior and the value head at leaves, with no random rollouts. The network is an 8-block, 128-channel ResNet. The real bottleneck is Python tree search, not the GPU, so we batch leaf evaluations across 128 concurrent games: about 900 games per hour versus 25 naively. The budget is ~600 effective GPU-hours on n1-standard-16 + T4 spot instances (~$0.26/h), with all state synced to Cloud Storage.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schedule has three gates that decide the project: GPU quota requested on day one, Phase 0 proving the whole pipeline on Connect-4 before Chaturanga, and Phase 4 delivering at least a 25x throughput gain. No published perft reference exists for Chaturanga, so two engines are written independently from RULES.md and must agree on node counts to depth 6 from 15 positions, including stalemate, bare-king and Gaja-orbit cases; property tests add move-codec round-trips and mirror invariance. If cloud access fails, Tier B (local RTX 3060) and Tier C (6x6 board) remain complete, reportable outcomes. Evaluation: Elo ladder, baselines, sims-vs-strength and augmentation ablations, and rule-specific analysis such as Gaja orbits and Raja activity.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754880"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 name="Rectangle 2"/>
          <p:cNvSpPr/>
          <p:nvPr/>
        </p:nvSpPr>
        <p:spPr>
          <a:xfrm>
            <a:off x="457200" y="502920"/>
            <a:ext cx="256032" cy="256032"/>
          </a:xfrm>
          <a:prstGeom prst="rect">
            <a:avLst/>
          </a:prstGeom>
          <a:solidFill>
            <a:srgbClr val="FFFFF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Rectangle 3"/>
          <p:cNvSpPr/>
          <p:nvPr/>
        </p:nvSpPr>
        <p:spPr>
          <a:xfrm>
            <a:off x="713232" y="502920"/>
            <a:ext cx="256032" cy="256032"/>
          </a:xfrm>
          <a:prstGeom prst="rect">
            <a:avLst/>
          </a:prstGeom>
          <a:solidFill>
            <a:srgbClr val="00000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Rectangle 4"/>
          <p:cNvSpPr/>
          <p:nvPr/>
        </p:nvSpPr>
        <p:spPr>
          <a:xfrm>
            <a:off x="969264" y="502920"/>
            <a:ext cx="256032" cy="256032"/>
          </a:xfrm>
          <a:prstGeom prst="rect">
            <a:avLst/>
          </a:prstGeom>
          <a:solidFill>
            <a:srgbClr val="FFFFF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 name="Rectangle 5"/>
          <p:cNvSpPr/>
          <p:nvPr/>
        </p:nvSpPr>
        <p:spPr>
          <a:xfrm>
            <a:off x="1225296" y="502920"/>
            <a:ext cx="256032" cy="256032"/>
          </a:xfrm>
          <a:prstGeom prst="rect">
            <a:avLst/>
          </a:prstGeom>
          <a:solidFill>
            <a:srgbClr val="00000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ectangle 6"/>
          <p:cNvSpPr/>
          <p:nvPr/>
        </p:nvSpPr>
        <p:spPr>
          <a:xfrm>
            <a:off x="1481328" y="502920"/>
            <a:ext cx="256032" cy="256032"/>
          </a:xfrm>
          <a:prstGeom prst="rect">
            <a:avLst/>
          </a:prstGeom>
          <a:solidFill>
            <a:srgbClr val="FFFFF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Rectangle 7"/>
          <p:cNvSpPr/>
          <p:nvPr/>
        </p:nvSpPr>
        <p:spPr>
          <a:xfrm>
            <a:off x="1737360" y="502920"/>
            <a:ext cx="256032" cy="256032"/>
          </a:xfrm>
          <a:prstGeom prst="rect">
            <a:avLst/>
          </a:prstGeom>
          <a:solidFill>
            <a:srgbClr val="00000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Rectangle 8"/>
          <p:cNvSpPr/>
          <p:nvPr/>
        </p:nvSpPr>
        <p:spPr>
          <a:xfrm>
            <a:off x="1993392" y="502920"/>
            <a:ext cx="256032" cy="256032"/>
          </a:xfrm>
          <a:prstGeom prst="rect">
            <a:avLst/>
          </a:prstGeom>
          <a:solidFill>
            <a:srgbClr val="FFFFF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Rectangle 9"/>
          <p:cNvSpPr/>
          <p:nvPr/>
        </p:nvSpPr>
        <p:spPr>
          <a:xfrm>
            <a:off x="2249424" y="502920"/>
            <a:ext cx="256032" cy="256032"/>
          </a:xfrm>
          <a:prstGeom prst="rect">
            <a:avLst/>
          </a:prstGeom>
          <a:solidFill>
            <a:srgbClr val="00000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TextBox 10"/>
          <p:cNvSpPr txBox="1"/>
          <p:nvPr/>
        </p:nvSpPr>
        <p:spPr>
          <a:xfrm>
            <a:off x="457200" y="1051560"/>
            <a:ext cx="4023360" cy="822960"/>
          </a:xfrm>
          <a:prstGeom prst="rect">
            <a:avLst/>
          </a:prstGeom>
          <a:noFill/>
        </p:spPr>
        <p:txBody>
          <a:bodyPr wrap="square" anchor="t" lIns="0" rIns="0" tIns="0" bIns="0">
            <a:spAutoFit/>
          </a:bodyPr>
          <a:lstStyle/>
          <a:p>
            <a:pPr algn="l"/>
            <a:r>
              <a:rPr sz="4000" b="1" i="0">
                <a:solidFill>
                  <a:srgbClr val="FFFFFF"/>
                </a:solidFill>
                <a:latin typeface="Cambria"/>
              </a:rPr>
              <a:t>ChaturangaZero</a:t>
            </a:r>
          </a:p>
        </p:txBody>
      </p:sp>
      <p:sp>
        <p:nvSpPr>
          <p:cNvPr id="12" name="TextBox 11"/>
          <p:cNvSpPr txBox="1"/>
          <p:nvPr/>
        </p:nvSpPr>
        <p:spPr>
          <a:xfrm>
            <a:off x="457200" y="1828800"/>
            <a:ext cx="3931920" cy="822960"/>
          </a:xfrm>
          <a:prstGeom prst="rect">
            <a:avLst/>
          </a:prstGeom>
          <a:noFill/>
        </p:spPr>
        <p:txBody>
          <a:bodyPr wrap="square" anchor="t" lIns="0" rIns="0" tIns="0" bIns="0">
            <a:spAutoFit/>
          </a:bodyPr>
          <a:lstStyle/>
          <a:p>
            <a:pPr algn="l"/>
            <a:r>
              <a:rPr sz="1700" b="0" i="0">
                <a:solidFill>
                  <a:srgbClr val="D9D9D9"/>
                </a:solidFill>
                <a:latin typeface="Calibri"/>
              </a:rPr>
              <a:t>A self-play AlphaZero agent for Chaturanga, the 6th-century Indian ancestor of chess</a:t>
            </a:r>
          </a:p>
        </p:txBody>
      </p:sp>
      <p:sp>
        <p:nvSpPr>
          <p:cNvPr id="13" name="TextBox 12"/>
          <p:cNvSpPr txBox="1"/>
          <p:nvPr/>
        </p:nvSpPr>
        <p:spPr>
          <a:xfrm>
            <a:off x="457200" y="2743200"/>
            <a:ext cx="3931920" cy="640080"/>
          </a:xfrm>
          <a:prstGeom prst="rect">
            <a:avLst/>
          </a:prstGeom>
          <a:noFill/>
        </p:spPr>
        <p:txBody>
          <a:bodyPr wrap="square" anchor="t" lIns="0" rIns="0" tIns="0" bIns="0">
            <a:spAutoFit/>
          </a:bodyPr>
          <a:lstStyle/>
          <a:p>
            <a:pPr algn="l"/>
            <a:r>
              <a:rPr sz="1300" b="0" i="1">
                <a:solidFill>
                  <a:srgbClr val="A6A6A6"/>
                </a:solidFill>
                <a:latin typeface="Calibri"/>
              </a:rPr>
              <a:t>Learns from the rules alone: no human games, no opening book, no hand-written evaluation</a:t>
            </a:r>
          </a:p>
        </p:txBody>
      </p:sp>
      <p:sp>
        <p:nvSpPr>
          <p:cNvPr id="14" name="Rounded Rectangle 13"/>
          <p:cNvSpPr/>
          <p:nvPr/>
        </p:nvSpPr>
        <p:spPr>
          <a:xfrm>
            <a:off x="457200" y="3520440"/>
            <a:ext cx="3840480" cy="2423160"/>
          </a:xfrm>
          <a:prstGeom prst="roundRect">
            <a:avLst>
              <a:gd name="adj" fmla="val 12000"/>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5" name="TextBox 14"/>
          <p:cNvSpPr txBox="1"/>
          <p:nvPr/>
        </p:nvSpPr>
        <p:spPr>
          <a:xfrm>
            <a:off x="685800" y="3630168"/>
            <a:ext cx="3474720" cy="274320"/>
          </a:xfrm>
          <a:prstGeom prst="rect">
            <a:avLst/>
          </a:prstGeom>
          <a:noFill/>
        </p:spPr>
        <p:txBody>
          <a:bodyPr wrap="square" anchor="t" lIns="0" rIns="0" tIns="0" bIns="0">
            <a:spAutoFit/>
          </a:bodyPr>
          <a:lstStyle/>
          <a:p>
            <a:pPr algn="l"/>
            <a:r>
              <a:rPr sz="1200" b="1" i="0">
                <a:solidFill>
                  <a:srgbClr val="FFFFFF"/>
                </a:solidFill>
                <a:latin typeface="Calibri"/>
              </a:rPr>
              <a:t>TEAM</a:t>
            </a:r>
          </a:p>
        </p:txBody>
      </p:sp>
      <p:sp>
        <p:nvSpPr>
          <p:cNvPr id="16" name="TextBox 15"/>
          <p:cNvSpPr txBox="1"/>
          <p:nvPr/>
        </p:nvSpPr>
        <p:spPr>
          <a:xfrm>
            <a:off x="685800" y="3977639"/>
            <a:ext cx="3474720" cy="457200"/>
          </a:xfrm>
          <a:prstGeom prst="rect">
            <a:avLst/>
          </a:prstGeom>
          <a:noFill/>
        </p:spPr>
        <p:txBody>
          <a:bodyPr wrap="square" anchor="t" lIns="0" rIns="0" tIns="0" bIns="0">
            <a:spAutoFit/>
          </a:bodyPr>
          <a:lstStyle/>
          <a:p>
            <a:pPr algn="l"/>
            <a:r>
              <a:rPr sz="1300" b="1" i="0">
                <a:solidFill>
                  <a:srgbClr val="FFFFFF"/>
                </a:solidFill>
                <a:latin typeface="Calibri"/>
              </a:rPr>
              <a:t>Aditeya</a:t>
            </a:r>
            <a:r>
              <a:rPr sz="1200" b="0" i="0">
                <a:solidFill>
                  <a:srgbClr val="D9D9D9"/>
                </a:solidFill>
                <a:latin typeface="Calibri"/>
              </a:rPr>
              <a:t>   2024A8PS0689G</a:t>
            </a:r>
          </a:p>
          <a:p>
            <a:pPr algn="l"/>
            <a:r>
              <a:rPr sz="1100" b="0" i="1">
                <a:solidFill>
                  <a:srgbClr val="A6A6A6"/>
                </a:solidFill>
                <a:latin typeface="Calibri"/>
              </a:rPr>
              <a:t>Implementation plan &amp; game rules</a:t>
            </a:r>
          </a:p>
        </p:txBody>
      </p:sp>
      <p:sp>
        <p:nvSpPr>
          <p:cNvPr id="17" name="TextBox 16"/>
          <p:cNvSpPr txBox="1"/>
          <p:nvPr/>
        </p:nvSpPr>
        <p:spPr>
          <a:xfrm>
            <a:off x="685800" y="4453127"/>
            <a:ext cx="3474720" cy="457200"/>
          </a:xfrm>
          <a:prstGeom prst="rect">
            <a:avLst/>
          </a:prstGeom>
          <a:noFill/>
        </p:spPr>
        <p:txBody>
          <a:bodyPr wrap="square" anchor="t" lIns="0" rIns="0" tIns="0" bIns="0">
            <a:spAutoFit/>
          </a:bodyPr>
          <a:lstStyle/>
          <a:p>
            <a:pPr algn="l"/>
            <a:r>
              <a:rPr sz="1300" b="1" i="0">
                <a:solidFill>
                  <a:srgbClr val="FFFFFF"/>
                </a:solidFill>
                <a:latin typeface="Calibri"/>
              </a:rPr>
              <a:t>Ansh</a:t>
            </a:r>
            <a:r>
              <a:rPr sz="1200" b="0" i="0">
                <a:solidFill>
                  <a:srgbClr val="D9D9D9"/>
                </a:solidFill>
                <a:latin typeface="Calibri"/>
              </a:rPr>
              <a:t>   2024A7PS0633G</a:t>
            </a:r>
          </a:p>
          <a:p>
            <a:pPr algn="l"/>
            <a:r>
              <a:rPr sz="1100" b="0" i="1">
                <a:solidFill>
                  <a:srgbClr val="A6A6A6"/>
                </a:solidFill>
                <a:latin typeface="Calibri"/>
              </a:rPr>
              <a:t>Implementation plan &amp; game rules</a:t>
            </a:r>
          </a:p>
        </p:txBody>
      </p:sp>
      <p:sp>
        <p:nvSpPr>
          <p:cNvPr id="18" name="TextBox 17"/>
          <p:cNvSpPr txBox="1"/>
          <p:nvPr/>
        </p:nvSpPr>
        <p:spPr>
          <a:xfrm>
            <a:off x="685800" y="4928616"/>
            <a:ext cx="3474720" cy="457200"/>
          </a:xfrm>
          <a:prstGeom prst="rect">
            <a:avLst/>
          </a:prstGeom>
          <a:noFill/>
        </p:spPr>
        <p:txBody>
          <a:bodyPr wrap="square" anchor="t" lIns="0" rIns="0" tIns="0" bIns="0">
            <a:spAutoFit/>
          </a:bodyPr>
          <a:lstStyle/>
          <a:p>
            <a:pPr algn="l"/>
            <a:r>
              <a:rPr sz="1300" b="1" i="0">
                <a:solidFill>
                  <a:srgbClr val="FFFFFF"/>
                </a:solidFill>
                <a:latin typeface="Calibri"/>
              </a:rPr>
              <a:t>Adit</a:t>
            </a:r>
            <a:r>
              <a:rPr sz="1200" b="0" i="0">
                <a:solidFill>
                  <a:srgbClr val="D9D9D9"/>
                </a:solidFill>
                <a:latin typeface="Calibri"/>
              </a:rPr>
              <a:t>   2024A7PS0643G</a:t>
            </a:r>
          </a:p>
          <a:p>
            <a:pPr algn="l"/>
            <a:r>
              <a:rPr sz="1100" b="0" i="1">
                <a:solidFill>
                  <a:srgbClr val="A6A6A6"/>
                </a:solidFill>
                <a:latin typeface="Calibri"/>
              </a:rPr>
              <a:t>Codebase &amp; training</a:t>
            </a:r>
          </a:p>
        </p:txBody>
      </p:sp>
      <p:sp>
        <p:nvSpPr>
          <p:cNvPr id="19" name="TextBox 18"/>
          <p:cNvSpPr txBox="1"/>
          <p:nvPr/>
        </p:nvSpPr>
        <p:spPr>
          <a:xfrm>
            <a:off x="685800" y="5404104"/>
            <a:ext cx="3474720" cy="457200"/>
          </a:xfrm>
          <a:prstGeom prst="rect">
            <a:avLst/>
          </a:prstGeom>
          <a:noFill/>
        </p:spPr>
        <p:txBody>
          <a:bodyPr wrap="square" anchor="t" lIns="0" rIns="0" tIns="0" bIns="0">
            <a:spAutoFit/>
          </a:bodyPr>
          <a:lstStyle/>
          <a:p>
            <a:pPr algn="l"/>
            <a:r>
              <a:rPr sz="1300" b="1" i="0">
                <a:solidFill>
                  <a:srgbClr val="FFFFFF"/>
                </a:solidFill>
                <a:latin typeface="Calibri"/>
              </a:rPr>
              <a:t>Sarthak</a:t>
            </a:r>
            <a:r>
              <a:rPr sz="1200" b="0" i="0">
                <a:solidFill>
                  <a:srgbClr val="D9D9D9"/>
                </a:solidFill>
                <a:latin typeface="Calibri"/>
              </a:rPr>
              <a:t>   2024A7PS0478G</a:t>
            </a:r>
          </a:p>
          <a:p>
            <a:pPr algn="l"/>
            <a:r>
              <a:rPr sz="1100" b="0" i="1">
                <a:solidFill>
                  <a:srgbClr val="A6A6A6"/>
                </a:solidFill>
                <a:latin typeface="Calibri"/>
              </a:rPr>
              <a:t>Codebase &amp; training</a:t>
            </a:r>
          </a:p>
        </p:txBody>
      </p:sp>
      <p:sp>
        <p:nvSpPr>
          <p:cNvPr id="20" name="TextBox 19"/>
          <p:cNvSpPr txBox="1"/>
          <p:nvPr/>
        </p:nvSpPr>
        <p:spPr>
          <a:xfrm>
            <a:off x="457200" y="6080760"/>
            <a:ext cx="4023360" cy="457200"/>
          </a:xfrm>
          <a:prstGeom prst="rect">
            <a:avLst/>
          </a:prstGeom>
          <a:noFill/>
        </p:spPr>
        <p:txBody>
          <a:bodyPr wrap="square" anchor="t" lIns="0" rIns="0" tIns="0" bIns="0">
            <a:spAutoFit/>
          </a:bodyPr>
          <a:lstStyle/>
          <a:p>
            <a:pPr algn="l"/>
            <a:r>
              <a:rPr sz="1100" b="0" i="0">
                <a:solidFill>
                  <a:srgbClr val="A6A6A6"/>
                </a:solidFill>
                <a:latin typeface="Calibri"/>
              </a:rPr>
              <a:t>4 students  ·  16 weeks  ·  RTX 3060 + Google Cloud</a:t>
            </a:r>
          </a:p>
          <a:p>
            <a:pPr algn="l"/>
            <a:r>
              <a:rPr sz="1100" b="0" i="0">
                <a:solidFill>
                  <a:srgbClr val="A6A6A6"/>
                </a:solidFill>
                <a:latin typeface="Calibri"/>
              </a:rPr>
              <a:t>github.com/Sarthak-gupta-cpp/ChaturangaZero</a:t>
            </a:r>
          </a:p>
        </p:txBody>
      </p:sp>
      <p:sp>
        <p:nvSpPr>
          <p:cNvPr id="21" name="Rectangle 20"/>
          <p:cNvSpPr/>
          <p:nvPr/>
        </p:nvSpPr>
        <p:spPr>
          <a:xfrm>
            <a:off x="5212080" y="448056"/>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2" name="Rectangle 21"/>
          <p:cNvSpPr/>
          <p:nvPr/>
        </p:nvSpPr>
        <p:spPr>
          <a:xfrm>
            <a:off x="5212080" y="548640"/>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Rectangle 22"/>
          <p:cNvSpPr/>
          <p:nvPr/>
        </p:nvSpPr>
        <p:spPr>
          <a:xfrm>
            <a:off x="5312664" y="448056"/>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4" name="Rectangle 23"/>
          <p:cNvSpPr/>
          <p:nvPr/>
        </p:nvSpPr>
        <p:spPr>
          <a:xfrm>
            <a:off x="5312664" y="548640"/>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5" name="TextBox 24"/>
          <p:cNvSpPr txBox="1"/>
          <p:nvPr/>
        </p:nvSpPr>
        <p:spPr>
          <a:xfrm>
            <a:off x="5504688" y="411480"/>
            <a:ext cx="3822191" cy="274320"/>
          </a:xfrm>
          <a:prstGeom prst="rect">
            <a:avLst/>
          </a:prstGeom>
          <a:noFill/>
        </p:spPr>
        <p:txBody>
          <a:bodyPr wrap="square" anchor="t" lIns="0" rIns="0" tIns="0" bIns="0">
            <a:spAutoFit/>
          </a:bodyPr>
          <a:lstStyle/>
          <a:p>
            <a:pPr algn="l"/>
            <a:r>
              <a:rPr sz="1200" b="1" i="0">
                <a:solidFill>
                  <a:srgbClr val="1A1A1A"/>
                </a:solidFill>
                <a:latin typeface="Calibri"/>
              </a:rPr>
              <a:t>THE GAME  ·  START POSITION ON THE ASHTAPADA</a:t>
            </a:r>
          </a:p>
        </p:txBody>
      </p:sp>
      <p:sp>
        <p:nvSpPr>
          <p:cNvPr id="26" name="Rectangle 25"/>
          <p:cNvSpPr/>
          <p:nvPr/>
        </p:nvSpPr>
        <p:spPr>
          <a:xfrm>
            <a:off x="5486400" y="41148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7" name="TextBox 26"/>
          <p:cNvSpPr txBox="1"/>
          <p:nvPr/>
        </p:nvSpPr>
        <p:spPr>
          <a:xfrm>
            <a:off x="5486400" y="40965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28" name="Rectangle 27"/>
          <p:cNvSpPr/>
          <p:nvPr/>
        </p:nvSpPr>
        <p:spPr>
          <a:xfrm>
            <a:off x="5486400" y="36576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9" name="TextBox 28"/>
          <p:cNvSpPr txBox="1"/>
          <p:nvPr/>
        </p:nvSpPr>
        <p:spPr>
          <a:xfrm>
            <a:off x="5486400" y="36393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30" name="Rectangle 29"/>
          <p:cNvSpPr/>
          <p:nvPr/>
        </p:nvSpPr>
        <p:spPr>
          <a:xfrm>
            <a:off x="5486400" y="32004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1" name="Oval 30"/>
          <p:cNvSpPr/>
          <p:nvPr/>
        </p:nvSpPr>
        <p:spPr>
          <a:xfrm>
            <a:off x="5522976" y="3236976"/>
            <a:ext cx="384048" cy="384048"/>
          </a:xfrm>
          <a:prstGeom prst="ellipse">
            <a:avLst/>
          </a:prstGeom>
          <a:no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2" name="Rectangle 31"/>
          <p:cNvSpPr/>
          <p:nvPr/>
        </p:nvSpPr>
        <p:spPr>
          <a:xfrm>
            <a:off x="5486400" y="27432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3" name="Rectangle 32"/>
          <p:cNvSpPr/>
          <p:nvPr/>
        </p:nvSpPr>
        <p:spPr>
          <a:xfrm>
            <a:off x="5486400" y="22860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4" name="Rectangle 33"/>
          <p:cNvSpPr/>
          <p:nvPr/>
        </p:nvSpPr>
        <p:spPr>
          <a:xfrm>
            <a:off x="5486400" y="18288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5" name="Rectangle 34"/>
          <p:cNvSpPr/>
          <p:nvPr/>
        </p:nvSpPr>
        <p:spPr>
          <a:xfrm>
            <a:off x="5486400" y="13716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6" name="Oval 35"/>
          <p:cNvSpPr/>
          <p:nvPr/>
        </p:nvSpPr>
        <p:spPr>
          <a:xfrm>
            <a:off x="5522976" y="1408176"/>
            <a:ext cx="384048" cy="384048"/>
          </a:xfrm>
          <a:prstGeom prst="ellipse">
            <a:avLst/>
          </a:prstGeom>
          <a:no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7" name="TextBox 36"/>
          <p:cNvSpPr txBox="1"/>
          <p:nvPr/>
        </p:nvSpPr>
        <p:spPr>
          <a:xfrm>
            <a:off x="5486400" y="13533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38" name="Rectangle 37"/>
          <p:cNvSpPr/>
          <p:nvPr/>
        </p:nvSpPr>
        <p:spPr>
          <a:xfrm>
            <a:off x="5486400" y="9144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9" name="TextBox 38"/>
          <p:cNvSpPr txBox="1"/>
          <p:nvPr/>
        </p:nvSpPr>
        <p:spPr>
          <a:xfrm>
            <a:off x="5486400" y="8961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40" name="Rectangle 39"/>
          <p:cNvSpPr/>
          <p:nvPr/>
        </p:nvSpPr>
        <p:spPr>
          <a:xfrm>
            <a:off x="5943600" y="41148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1" name="TextBox 40"/>
          <p:cNvSpPr txBox="1"/>
          <p:nvPr/>
        </p:nvSpPr>
        <p:spPr>
          <a:xfrm>
            <a:off x="5943600" y="40965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42" name="Rectangle 41"/>
          <p:cNvSpPr/>
          <p:nvPr/>
        </p:nvSpPr>
        <p:spPr>
          <a:xfrm>
            <a:off x="5943600" y="36576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3" name="TextBox 42"/>
          <p:cNvSpPr txBox="1"/>
          <p:nvPr/>
        </p:nvSpPr>
        <p:spPr>
          <a:xfrm>
            <a:off x="5943600" y="36393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44" name="Rectangle 43"/>
          <p:cNvSpPr/>
          <p:nvPr/>
        </p:nvSpPr>
        <p:spPr>
          <a:xfrm>
            <a:off x="5943600" y="32004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5" name="Rectangle 44"/>
          <p:cNvSpPr/>
          <p:nvPr/>
        </p:nvSpPr>
        <p:spPr>
          <a:xfrm>
            <a:off x="5943600" y="27432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6" name="Rectangle 45"/>
          <p:cNvSpPr/>
          <p:nvPr/>
        </p:nvSpPr>
        <p:spPr>
          <a:xfrm>
            <a:off x="5943600" y="22860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7" name="Rectangle 46"/>
          <p:cNvSpPr/>
          <p:nvPr/>
        </p:nvSpPr>
        <p:spPr>
          <a:xfrm>
            <a:off x="5943600" y="18288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8" name="Rectangle 47"/>
          <p:cNvSpPr/>
          <p:nvPr/>
        </p:nvSpPr>
        <p:spPr>
          <a:xfrm>
            <a:off x="5943600" y="13716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9" name="TextBox 48"/>
          <p:cNvSpPr txBox="1"/>
          <p:nvPr/>
        </p:nvSpPr>
        <p:spPr>
          <a:xfrm>
            <a:off x="5943600" y="13533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50" name="Rectangle 49"/>
          <p:cNvSpPr/>
          <p:nvPr/>
        </p:nvSpPr>
        <p:spPr>
          <a:xfrm>
            <a:off x="5943600" y="9144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1" name="TextBox 50"/>
          <p:cNvSpPr txBox="1"/>
          <p:nvPr/>
        </p:nvSpPr>
        <p:spPr>
          <a:xfrm>
            <a:off x="5943600" y="8961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52" name="Rectangle 51"/>
          <p:cNvSpPr/>
          <p:nvPr/>
        </p:nvSpPr>
        <p:spPr>
          <a:xfrm>
            <a:off x="6400800" y="41148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3" name="Oval 52"/>
          <p:cNvSpPr/>
          <p:nvPr/>
        </p:nvSpPr>
        <p:spPr>
          <a:xfrm>
            <a:off x="6437376" y="4151376"/>
            <a:ext cx="384048" cy="384048"/>
          </a:xfrm>
          <a:prstGeom prst="ellipse">
            <a:avLst/>
          </a:prstGeom>
          <a:no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4" name="TextBox 53"/>
          <p:cNvSpPr txBox="1"/>
          <p:nvPr/>
        </p:nvSpPr>
        <p:spPr>
          <a:xfrm>
            <a:off x="6400800" y="40965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55" name="Rectangle 54"/>
          <p:cNvSpPr/>
          <p:nvPr/>
        </p:nvSpPr>
        <p:spPr>
          <a:xfrm>
            <a:off x="6400800" y="36576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6" name="TextBox 55"/>
          <p:cNvSpPr txBox="1"/>
          <p:nvPr/>
        </p:nvSpPr>
        <p:spPr>
          <a:xfrm>
            <a:off x="6400800" y="36393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57" name="Rectangle 56"/>
          <p:cNvSpPr/>
          <p:nvPr/>
        </p:nvSpPr>
        <p:spPr>
          <a:xfrm>
            <a:off x="6400800" y="32004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8" name="Rectangle 57"/>
          <p:cNvSpPr/>
          <p:nvPr/>
        </p:nvSpPr>
        <p:spPr>
          <a:xfrm>
            <a:off x="6400800" y="27432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9" name="Rectangle 58"/>
          <p:cNvSpPr/>
          <p:nvPr/>
        </p:nvSpPr>
        <p:spPr>
          <a:xfrm>
            <a:off x="6400800" y="22860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0" name="Oval 59"/>
          <p:cNvSpPr/>
          <p:nvPr/>
        </p:nvSpPr>
        <p:spPr>
          <a:xfrm>
            <a:off x="6437376" y="2322576"/>
            <a:ext cx="384048" cy="384048"/>
          </a:xfrm>
          <a:prstGeom prst="ellipse">
            <a:avLst/>
          </a:prstGeom>
          <a:no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1" name="Rectangle 60"/>
          <p:cNvSpPr/>
          <p:nvPr/>
        </p:nvSpPr>
        <p:spPr>
          <a:xfrm>
            <a:off x="6400800" y="18288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2" name="Rectangle 61"/>
          <p:cNvSpPr/>
          <p:nvPr/>
        </p:nvSpPr>
        <p:spPr>
          <a:xfrm>
            <a:off x="6400800" y="13716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3" name="TextBox 62"/>
          <p:cNvSpPr txBox="1"/>
          <p:nvPr/>
        </p:nvSpPr>
        <p:spPr>
          <a:xfrm>
            <a:off x="6400800" y="13533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64" name="Rectangle 63"/>
          <p:cNvSpPr/>
          <p:nvPr/>
        </p:nvSpPr>
        <p:spPr>
          <a:xfrm>
            <a:off x="6400800" y="9144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5" name="TextBox 64"/>
          <p:cNvSpPr txBox="1"/>
          <p:nvPr/>
        </p:nvSpPr>
        <p:spPr>
          <a:xfrm>
            <a:off x="6400800" y="8961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66" name="Rectangle 65"/>
          <p:cNvSpPr/>
          <p:nvPr/>
        </p:nvSpPr>
        <p:spPr>
          <a:xfrm>
            <a:off x="6858000" y="41148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7" name="TextBox 66"/>
          <p:cNvSpPr txBox="1"/>
          <p:nvPr/>
        </p:nvSpPr>
        <p:spPr>
          <a:xfrm>
            <a:off x="6858000" y="40965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68" name="Rectangle 67"/>
          <p:cNvSpPr/>
          <p:nvPr/>
        </p:nvSpPr>
        <p:spPr>
          <a:xfrm>
            <a:off x="6858000" y="36576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9" name="TextBox 68"/>
          <p:cNvSpPr txBox="1"/>
          <p:nvPr/>
        </p:nvSpPr>
        <p:spPr>
          <a:xfrm>
            <a:off x="6858000" y="36393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70" name="Rectangle 69"/>
          <p:cNvSpPr/>
          <p:nvPr/>
        </p:nvSpPr>
        <p:spPr>
          <a:xfrm>
            <a:off x="6858000" y="32004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1" name="Rectangle 70"/>
          <p:cNvSpPr/>
          <p:nvPr/>
        </p:nvSpPr>
        <p:spPr>
          <a:xfrm>
            <a:off x="6858000" y="27432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2" name="Rectangle 71"/>
          <p:cNvSpPr/>
          <p:nvPr/>
        </p:nvSpPr>
        <p:spPr>
          <a:xfrm>
            <a:off x="6858000" y="22860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3" name="Rectangle 72"/>
          <p:cNvSpPr/>
          <p:nvPr/>
        </p:nvSpPr>
        <p:spPr>
          <a:xfrm>
            <a:off x="6858000" y="18288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4" name="Rectangle 73"/>
          <p:cNvSpPr/>
          <p:nvPr/>
        </p:nvSpPr>
        <p:spPr>
          <a:xfrm>
            <a:off x="6858000" y="13716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5" name="TextBox 74"/>
          <p:cNvSpPr txBox="1"/>
          <p:nvPr/>
        </p:nvSpPr>
        <p:spPr>
          <a:xfrm>
            <a:off x="6858000" y="13533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76" name="Rectangle 75"/>
          <p:cNvSpPr/>
          <p:nvPr/>
        </p:nvSpPr>
        <p:spPr>
          <a:xfrm>
            <a:off x="6858000" y="9144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7" name="TextBox 76"/>
          <p:cNvSpPr txBox="1"/>
          <p:nvPr/>
        </p:nvSpPr>
        <p:spPr>
          <a:xfrm>
            <a:off x="6858000" y="8961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78" name="Rectangle 77"/>
          <p:cNvSpPr/>
          <p:nvPr/>
        </p:nvSpPr>
        <p:spPr>
          <a:xfrm>
            <a:off x="7315200" y="41148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9" name="TextBox 78"/>
          <p:cNvSpPr txBox="1"/>
          <p:nvPr/>
        </p:nvSpPr>
        <p:spPr>
          <a:xfrm>
            <a:off x="7315200" y="40965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80" name="Rectangle 79"/>
          <p:cNvSpPr/>
          <p:nvPr/>
        </p:nvSpPr>
        <p:spPr>
          <a:xfrm>
            <a:off x="7315200" y="36576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1" name="TextBox 80"/>
          <p:cNvSpPr txBox="1"/>
          <p:nvPr/>
        </p:nvSpPr>
        <p:spPr>
          <a:xfrm>
            <a:off x="7315200" y="36393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82" name="Rectangle 81"/>
          <p:cNvSpPr/>
          <p:nvPr/>
        </p:nvSpPr>
        <p:spPr>
          <a:xfrm>
            <a:off x="7315200" y="32004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3" name="Oval 82"/>
          <p:cNvSpPr/>
          <p:nvPr/>
        </p:nvSpPr>
        <p:spPr>
          <a:xfrm>
            <a:off x="7351775" y="3236976"/>
            <a:ext cx="384048" cy="384048"/>
          </a:xfrm>
          <a:prstGeom prst="ellipse">
            <a:avLst/>
          </a:prstGeom>
          <a:no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4" name="Rectangle 83"/>
          <p:cNvSpPr/>
          <p:nvPr/>
        </p:nvSpPr>
        <p:spPr>
          <a:xfrm>
            <a:off x="7315200" y="27432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5" name="Rectangle 84"/>
          <p:cNvSpPr/>
          <p:nvPr/>
        </p:nvSpPr>
        <p:spPr>
          <a:xfrm>
            <a:off x="7315200" y="22860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6" name="Rectangle 85"/>
          <p:cNvSpPr/>
          <p:nvPr/>
        </p:nvSpPr>
        <p:spPr>
          <a:xfrm>
            <a:off x="7315200" y="18288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7" name="Rectangle 86"/>
          <p:cNvSpPr/>
          <p:nvPr/>
        </p:nvSpPr>
        <p:spPr>
          <a:xfrm>
            <a:off x="7315200" y="13716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8" name="Oval 87"/>
          <p:cNvSpPr/>
          <p:nvPr/>
        </p:nvSpPr>
        <p:spPr>
          <a:xfrm>
            <a:off x="7351775" y="1408176"/>
            <a:ext cx="384048" cy="384048"/>
          </a:xfrm>
          <a:prstGeom prst="ellipse">
            <a:avLst/>
          </a:prstGeom>
          <a:no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9" name="TextBox 88"/>
          <p:cNvSpPr txBox="1"/>
          <p:nvPr/>
        </p:nvSpPr>
        <p:spPr>
          <a:xfrm>
            <a:off x="7315200" y="13533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90" name="Rectangle 89"/>
          <p:cNvSpPr/>
          <p:nvPr/>
        </p:nvSpPr>
        <p:spPr>
          <a:xfrm>
            <a:off x="7315200" y="9144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1" name="TextBox 90"/>
          <p:cNvSpPr txBox="1"/>
          <p:nvPr/>
        </p:nvSpPr>
        <p:spPr>
          <a:xfrm>
            <a:off x="7315200" y="8961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92" name="Rectangle 91"/>
          <p:cNvSpPr/>
          <p:nvPr/>
        </p:nvSpPr>
        <p:spPr>
          <a:xfrm>
            <a:off x="7772400" y="41148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3" name="TextBox 92"/>
          <p:cNvSpPr txBox="1"/>
          <p:nvPr/>
        </p:nvSpPr>
        <p:spPr>
          <a:xfrm>
            <a:off x="7772400" y="40965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94" name="Rectangle 93"/>
          <p:cNvSpPr/>
          <p:nvPr/>
        </p:nvSpPr>
        <p:spPr>
          <a:xfrm>
            <a:off x="7772400" y="36576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5" name="TextBox 94"/>
          <p:cNvSpPr txBox="1"/>
          <p:nvPr/>
        </p:nvSpPr>
        <p:spPr>
          <a:xfrm>
            <a:off x="7772400" y="36393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96" name="Rectangle 95"/>
          <p:cNvSpPr/>
          <p:nvPr/>
        </p:nvSpPr>
        <p:spPr>
          <a:xfrm>
            <a:off x="7772400" y="32004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7" name="Rectangle 96"/>
          <p:cNvSpPr/>
          <p:nvPr/>
        </p:nvSpPr>
        <p:spPr>
          <a:xfrm>
            <a:off x="7772400" y="27432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8" name="Rectangle 97"/>
          <p:cNvSpPr/>
          <p:nvPr/>
        </p:nvSpPr>
        <p:spPr>
          <a:xfrm>
            <a:off x="7772400" y="22860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9" name="Rectangle 98"/>
          <p:cNvSpPr/>
          <p:nvPr/>
        </p:nvSpPr>
        <p:spPr>
          <a:xfrm>
            <a:off x="7772400" y="18288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0" name="Rectangle 99"/>
          <p:cNvSpPr/>
          <p:nvPr/>
        </p:nvSpPr>
        <p:spPr>
          <a:xfrm>
            <a:off x="7772400" y="13716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1" name="TextBox 100"/>
          <p:cNvSpPr txBox="1"/>
          <p:nvPr/>
        </p:nvSpPr>
        <p:spPr>
          <a:xfrm>
            <a:off x="7772400" y="13533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102" name="Rectangle 101"/>
          <p:cNvSpPr/>
          <p:nvPr/>
        </p:nvSpPr>
        <p:spPr>
          <a:xfrm>
            <a:off x="7772400" y="9144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3" name="TextBox 102"/>
          <p:cNvSpPr txBox="1"/>
          <p:nvPr/>
        </p:nvSpPr>
        <p:spPr>
          <a:xfrm>
            <a:off x="7772400" y="8961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104" name="Rectangle 103"/>
          <p:cNvSpPr/>
          <p:nvPr/>
        </p:nvSpPr>
        <p:spPr>
          <a:xfrm>
            <a:off x="8229600" y="41148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5" name="Oval 104"/>
          <p:cNvSpPr/>
          <p:nvPr/>
        </p:nvSpPr>
        <p:spPr>
          <a:xfrm>
            <a:off x="8266175" y="4151376"/>
            <a:ext cx="384048" cy="384048"/>
          </a:xfrm>
          <a:prstGeom prst="ellipse">
            <a:avLst/>
          </a:prstGeom>
          <a:no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6" name="TextBox 105"/>
          <p:cNvSpPr txBox="1"/>
          <p:nvPr/>
        </p:nvSpPr>
        <p:spPr>
          <a:xfrm>
            <a:off x="8229600" y="40965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107" name="Rectangle 106"/>
          <p:cNvSpPr/>
          <p:nvPr/>
        </p:nvSpPr>
        <p:spPr>
          <a:xfrm>
            <a:off x="8229600" y="36576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8" name="TextBox 107"/>
          <p:cNvSpPr txBox="1"/>
          <p:nvPr/>
        </p:nvSpPr>
        <p:spPr>
          <a:xfrm>
            <a:off x="8229600" y="36393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109" name="Rectangle 108"/>
          <p:cNvSpPr/>
          <p:nvPr/>
        </p:nvSpPr>
        <p:spPr>
          <a:xfrm>
            <a:off x="8229600" y="32004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0" name="Rectangle 109"/>
          <p:cNvSpPr/>
          <p:nvPr/>
        </p:nvSpPr>
        <p:spPr>
          <a:xfrm>
            <a:off x="8229600" y="27432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1" name="Rectangle 110"/>
          <p:cNvSpPr/>
          <p:nvPr/>
        </p:nvSpPr>
        <p:spPr>
          <a:xfrm>
            <a:off x="8229600" y="22860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2" name="Oval 111"/>
          <p:cNvSpPr/>
          <p:nvPr/>
        </p:nvSpPr>
        <p:spPr>
          <a:xfrm>
            <a:off x="8266175" y="2322576"/>
            <a:ext cx="384048" cy="384048"/>
          </a:xfrm>
          <a:prstGeom prst="ellipse">
            <a:avLst/>
          </a:prstGeom>
          <a:no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3" name="Rectangle 112"/>
          <p:cNvSpPr/>
          <p:nvPr/>
        </p:nvSpPr>
        <p:spPr>
          <a:xfrm>
            <a:off x="8229600" y="18288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4" name="Rectangle 113"/>
          <p:cNvSpPr/>
          <p:nvPr/>
        </p:nvSpPr>
        <p:spPr>
          <a:xfrm>
            <a:off x="8229600" y="13716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5" name="TextBox 114"/>
          <p:cNvSpPr txBox="1"/>
          <p:nvPr/>
        </p:nvSpPr>
        <p:spPr>
          <a:xfrm>
            <a:off x="8229600" y="13533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116" name="Rectangle 115"/>
          <p:cNvSpPr/>
          <p:nvPr/>
        </p:nvSpPr>
        <p:spPr>
          <a:xfrm>
            <a:off x="8229600" y="9144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7" name="TextBox 116"/>
          <p:cNvSpPr txBox="1"/>
          <p:nvPr/>
        </p:nvSpPr>
        <p:spPr>
          <a:xfrm>
            <a:off x="8229600" y="8961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118" name="Rectangle 117"/>
          <p:cNvSpPr/>
          <p:nvPr/>
        </p:nvSpPr>
        <p:spPr>
          <a:xfrm>
            <a:off x="8686800" y="41148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9" name="TextBox 118"/>
          <p:cNvSpPr txBox="1"/>
          <p:nvPr/>
        </p:nvSpPr>
        <p:spPr>
          <a:xfrm>
            <a:off x="8686800" y="40965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120" name="Rectangle 119"/>
          <p:cNvSpPr/>
          <p:nvPr/>
        </p:nvSpPr>
        <p:spPr>
          <a:xfrm>
            <a:off x="8686800" y="36576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1" name="TextBox 120"/>
          <p:cNvSpPr txBox="1"/>
          <p:nvPr/>
        </p:nvSpPr>
        <p:spPr>
          <a:xfrm>
            <a:off x="8686800" y="36393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122" name="Rectangle 121"/>
          <p:cNvSpPr/>
          <p:nvPr/>
        </p:nvSpPr>
        <p:spPr>
          <a:xfrm>
            <a:off x="8686800" y="32004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3" name="Rectangle 122"/>
          <p:cNvSpPr/>
          <p:nvPr/>
        </p:nvSpPr>
        <p:spPr>
          <a:xfrm>
            <a:off x="8686800" y="27432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4" name="Rectangle 123"/>
          <p:cNvSpPr/>
          <p:nvPr/>
        </p:nvSpPr>
        <p:spPr>
          <a:xfrm>
            <a:off x="8686800" y="22860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5" name="Rectangle 124"/>
          <p:cNvSpPr/>
          <p:nvPr/>
        </p:nvSpPr>
        <p:spPr>
          <a:xfrm>
            <a:off x="8686800" y="18288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6" name="Rectangle 125"/>
          <p:cNvSpPr/>
          <p:nvPr/>
        </p:nvSpPr>
        <p:spPr>
          <a:xfrm>
            <a:off x="8686800" y="1371600"/>
            <a:ext cx="457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7" name="TextBox 126"/>
          <p:cNvSpPr txBox="1"/>
          <p:nvPr/>
        </p:nvSpPr>
        <p:spPr>
          <a:xfrm>
            <a:off x="8686800" y="13533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128" name="Rectangle 127"/>
          <p:cNvSpPr/>
          <p:nvPr/>
        </p:nvSpPr>
        <p:spPr>
          <a:xfrm>
            <a:off x="8686800" y="914400"/>
            <a:ext cx="457200" cy="4572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9" name="TextBox 128"/>
          <p:cNvSpPr txBox="1"/>
          <p:nvPr/>
        </p:nvSpPr>
        <p:spPr>
          <a:xfrm>
            <a:off x="8686800" y="896112"/>
            <a:ext cx="457200" cy="457200"/>
          </a:xfrm>
          <a:prstGeom prst="rect">
            <a:avLst/>
          </a:prstGeom>
          <a:noFill/>
        </p:spPr>
        <p:txBody>
          <a:bodyPr wrap="square" anchor="ctr" lIns="0" rIns="0" tIns="0" bIns="0">
            <a:spAutoFit/>
          </a:bodyPr>
          <a:lstStyle/>
          <a:p>
            <a:pPr algn="ctr"/>
            <a:r>
              <a:rPr sz="2400" b="0" i="0">
                <a:solidFill>
                  <a:srgbClr val="000000"/>
                </a:solidFill>
                <a:latin typeface="Segoe UI Symbol"/>
              </a:rPr>
              <a:t>♜</a:t>
            </a:r>
          </a:p>
        </p:txBody>
      </p:sp>
      <p:sp>
        <p:nvSpPr>
          <p:cNvPr id="130" name="Rectangle 129"/>
          <p:cNvSpPr/>
          <p:nvPr/>
        </p:nvSpPr>
        <p:spPr>
          <a:xfrm>
            <a:off x="5486400" y="914400"/>
            <a:ext cx="3657600" cy="3657600"/>
          </a:xfrm>
          <a:prstGeom prst="rect">
            <a:avLst/>
          </a:prstGeom>
          <a:no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1" name="TextBox 130"/>
          <p:cNvSpPr txBox="1"/>
          <p:nvPr/>
        </p:nvSpPr>
        <p:spPr>
          <a:xfrm>
            <a:off x="5486400" y="4590288"/>
            <a:ext cx="457200" cy="228600"/>
          </a:xfrm>
          <a:prstGeom prst="rect">
            <a:avLst/>
          </a:prstGeom>
          <a:noFill/>
        </p:spPr>
        <p:txBody>
          <a:bodyPr wrap="square" anchor="t" lIns="0" rIns="0" tIns="0" bIns="0">
            <a:spAutoFit/>
          </a:bodyPr>
          <a:lstStyle/>
          <a:p>
            <a:pPr algn="ctr"/>
            <a:r>
              <a:rPr sz="1000" b="0" i="0">
                <a:solidFill>
                  <a:srgbClr val="595959"/>
                </a:solidFill>
                <a:latin typeface="Calibri"/>
              </a:rPr>
              <a:t>a</a:t>
            </a:r>
          </a:p>
        </p:txBody>
      </p:sp>
      <p:sp>
        <p:nvSpPr>
          <p:cNvPr id="132" name="TextBox 131"/>
          <p:cNvSpPr txBox="1"/>
          <p:nvPr/>
        </p:nvSpPr>
        <p:spPr>
          <a:xfrm>
            <a:off x="5230368" y="4114800"/>
            <a:ext cx="201168" cy="457200"/>
          </a:xfrm>
          <a:prstGeom prst="rect">
            <a:avLst/>
          </a:prstGeom>
          <a:noFill/>
        </p:spPr>
        <p:txBody>
          <a:bodyPr wrap="square" anchor="ctr" lIns="0" rIns="0" tIns="0" bIns="0">
            <a:spAutoFit/>
          </a:bodyPr>
          <a:lstStyle/>
          <a:p>
            <a:pPr algn="ctr"/>
            <a:r>
              <a:rPr sz="1000" b="0" i="0">
                <a:solidFill>
                  <a:srgbClr val="595959"/>
                </a:solidFill>
                <a:latin typeface="Calibri"/>
              </a:rPr>
              <a:t>1</a:t>
            </a:r>
          </a:p>
        </p:txBody>
      </p:sp>
      <p:sp>
        <p:nvSpPr>
          <p:cNvPr id="133" name="TextBox 132"/>
          <p:cNvSpPr txBox="1"/>
          <p:nvPr/>
        </p:nvSpPr>
        <p:spPr>
          <a:xfrm>
            <a:off x="5943600" y="4590288"/>
            <a:ext cx="457200" cy="228600"/>
          </a:xfrm>
          <a:prstGeom prst="rect">
            <a:avLst/>
          </a:prstGeom>
          <a:noFill/>
        </p:spPr>
        <p:txBody>
          <a:bodyPr wrap="square" anchor="t" lIns="0" rIns="0" tIns="0" bIns="0">
            <a:spAutoFit/>
          </a:bodyPr>
          <a:lstStyle/>
          <a:p>
            <a:pPr algn="ctr"/>
            <a:r>
              <a:rPr sz="1000" b="0" i="0">
                <a:solidFill>
                  <a:srgbClr val="595959"/>
                </a:solidFill>
                <a:latin typeface="Calibri"/>
              </a:rPr>
              <a:t>b</a:t>
            </a:r>
          </a:p>
        </p:txBody>
      </p:sp>
      <p:sp>
        <p:nvSpPr>
          <p:cNvPr id="134" name="TextBox 133"/>
          <p:cNvSpPr txBox="1"/>
          <p:nvPr/>
        </p:nvSpPr>
        <p:spPr>
          <a:xfrm>
            <a:off x="5230368" y="3657600"/>
            <a:ext cx="201168" cy="457200"/>
          </a:xfrm>
          <a:prstGeom prst="rect">
            <a:avLst/>
          </a:prstGeom>
          <a:noFill/>
        </p:spPr>
        <p:txBody>
          <a:bodyPr wrap="square" anchor="ctr" lIns="0" rIns="0" tIns="0" bIns="0">
            <a:spAutoFit/>
          </a:bodyPr>
          <a:lstStyle/>
          <a:p>
            <a:pPr algn="ctr"/>
            <a:r>
              <a:rPr sz="1000" b="0" i="0">
                <a:solidFill>
                  <a:srgbClr val="595959"/>
                </a:solidFill>
                <a:latin typeface="Calibri"/>
              </a:rPr>
              <a:t>2</a:t>
            </a:r>
          </a:p>
        </p:txBody>
      </p:sp>
      <p:sp>
        <p:nvSpPr>
          <p:cNvPr id="135" name="TextBox 134"/>
          <p:cNvSpPr txBox="1"/>
          <p:nvPr/>
        </p:nvSpPr>
        <p:spPr>
          <a:xfrm>
            <a:off x="6400800" y="4590288"/>
            <a:ext cx="457200" cy="228600"/>
          </a:xfrm>
          <a:prstGeom prst="rect">
            <a:avLst/>
          </a:prstGeom>
          <a:noFill/>
        </p:spPr>
        <p:txBody>
          <a:bodyPr wrap="square" anchor="t" lIns="0" rIns="0" tIns="0" bIns="0">
            <a:spAutoFit/>
          </a:bodyPr>
          <a:lstStyle/>
          <a:p>
            <a:pPr algn="ctr"/>
            <a:r>
              <a:rPr sz="1000" b="0" i="0">
                <a:solidFill>
                  <a:srgbClr val="595959"/>
                </a:solidFill>
                <a:latin typeface="Calibri"/>
              </a:rPr>
              <a:t>c</a:t>
            </a:r>
          </a:p>
        </p:txBody>
      </p:sp>
      <p:sp>
        <p:nvSpPr>
          <p:cNvPr id="136" name="TextBox 135"/>
          <p:cNvSpPr txBox="1"/>
          <p:nvPr/>
        </p:nvSpPr>
        <p:spPr>
          <a:xfrm>
            <a:off x="5230368" y="3200400"/>
            <a:ext cx="201168" cy="457200"/>
          </a:xfrm>
          <a:prstGeom prst="rect">
            <a:avLst/>
          </a:prstGeom>
          <a:noFill/>
        </p:spPr>
        <p:txBody>
          <a:bodyPr wrap="square" anchor="ctr" lIns="0" rIns="0" tIns="0" bIns="0">
            <a:spAutoFit/>
          </a:bodyPr>
          <a:lstStyle/>
          <a:p>
            <a:pPr algn="ctr"/>
            <a:r>
              <a:rPr sz="1000" b="0" i="0">
                <a:solidFill>
                  <a:srgbClr val="595959"/>
                </a:solidFill>
                <a:latin typeface="Calibri"/>
              </a:rPr>
              <a:t>3</a:t>
            </a:r>
          </a:p>
        </p:txBody>
      </p:sp>
      <p:sp>
        <p:nvSpPr>
          <p:cNvPr id="137" name="TextBox 136"/>
          <p:cNvSpPr txBox="1"/>
          <p:nvPr/>
        </p:nvSpPr>
        <p:spPr>
          <a:xfrm>
            <a:off x="6858000" y="4590288"/>
            <a:ext cx="457200" cy="228600"/>
          </a:xfrm>
          <a:prstGeom prst="rect">
            <a:avLst/>
          </a:prstGeom>
          <a:noFill/>
        </p:spPr>
        <p:txBody>
          <a:bodyPr wrap="square" anchor="t" lIns="0" rIns="0" tIns="0" bIns="0">
            <a:spAutoFit/>
          </a:bodyPr>
          <a:lstStyle/>
          <a:p>
            <a:pPr algn="ctr"/>
            <a:r>
              <a:rPr sz="1000" b="0" i="0">
                <a:solidFill>
                  <a:srgbClr val="595959"/>
                </a:solidFill>
                <a:latin typeface="Calibri"/>
              </a:rPr>
              <a:t>d</a:t>
            </a:r>
          </a:p>
        </p:txBody>
      </p:sp>
      <p:sp>
        <p:nvSpPr>
          <p:cNvPr id="138" name="TextBox 137"/>
          <p:cNvSpPr txBox="1"/>
          <p:nvPr/>
        </p:nvSpPr>
        <p:spPr>
          <a:xfrm>
            <a:off x="5230368" y="2743200"/>
            <a:ext cx="201168" cy="457200"/>
          </a:xfrm>
          <a:prstGeom prst="rect">
            <a:avLst/>
          </a:prstGeom>
          <a:noFill/>
        </p:spPr>
        <p:txBody>
          <a:bodyPr wrap="square" anchor="ctr" lIns="0" rIns="0" tIns="0" bIns="0">
            <a:spAutoFit/>
          </a:bodyPr>
          <a:lstStyle/>
          <a:p>
            <a:pPr algn="ctr"/>
            <a:r>
              <a:rPr sz="1000" b="0" i="0">
                <a:solidFill>
                  <a:srgbClr val="595959"/>
                </a:solidFill>
                <a:latin typeface="Calibri"/>
              </a:rPr>
              <a:t>4</a:t>
            </a:r>
          </a:p>
        </p:txBody>
      </p:sp>
      <p:sp>
        <p:nvSpPr>
          <p:cNvPr id="139" name="TextBox 138"/>
          <p:cNvSpPr txBox="1"/>
          <p:nvPr/>
        </p:nvSpPr>
        <p:spPr>
          <a:xfrm>
            <a:off x="7315200" y="4590288"/>
            <a:ext cx="457200" cy="228600"/>
          </a:xfrm>
          <a:prstGeom prst="rect">
            <a:avLst/>
          </a:prstGeom>
          <a:noFill/>
        </p:spPr>
        <p:txBody>
          <a:bodyPr wrap="square" anchor="t" lIns="0" rIns="0" tIns="0" bIns="0">
            <a:spAutoFit/>
          </a:bodyPr>
          <a:lstStyle/>
          <a:p>
            <a:pPr algn="ctr"/>
            <a:r>
              <a:rPr sz="1000" b="0" i="0">
                <a:solidFill>
                  <a:srgbClr val="595959"/>
                </a:solidFill>
                <a:latin typeface="Calibri"/>
              </a:rPr>
              <a:t>e</a:t>
            </a:r>
          </a:p>
        </p:txBody>
      </p:sp>
      <p:sp>
        <p:nvSpPr>
          <p:cNvPr id="140" name="TextBox 139"/>
          <p:cNvSpPr txBox="1"/>
          <p:nvPr/>
        </p:nvSpPr>
        <p:spPr>
          <a:xfrm>
            <a:off x="5230368" y="2286000"/>
            <a:ext cx="201168" cy="457200"/>
          </a:xfrm>
          <a:prstGeom prst="rect">
            <a:avLst/>
          </a:prstGeom>
          <a:noFill/>
        </p:spPr>
        <p:txBody>
          <a:bodyPr wrap="square" anchor="ctr" lIns="0" rIns="0" tIns="0" bIns="0">
            <a:spAutoFit/>
          </a:bodyPr>
          <a:lstStyle/>
          <a:p>
            <a:pPr algn="ctr"/>
            <a:r>
              <a:rPr sz="1000" b="0" i="0">
                <a:solidFill>
                  <a:srgbClr val="595959"/>
                </a:solidFill>
                <a:latin typeface="Calibri"/>
              </a:rPr>
              <a:t>5</a:t>
            </a:r>
          </a:p>
        </p:txBody>
      </p:sp>
      <p:sp>
        <p:nvSpPr>
          <p:cNvPr id="141" name="TextBox 140"/>
          <p:cNvSpPr txBox="1"/>
          <p:nvPr/>
        </p:nvSpPr>
        <p:spPr>
          <a:xfrm>
            <a:off x="7772400" y="4590288"/>
            <a:ext cx="457200" cy="228600"/>
          </a:xfrm>
          <a:prstGeom prst="rect">
            <a:avLst/>
          </a:prstGeom>
          <a:noFill/>
        </p:spPr>
        <p:txBody>
          <a:bodyPr wrap="square" anchor="t" lIns="0" rIns="0" tIns="0" bIns="0">
            <a:spAutoFit/>
          </a:bodyPr>
          <a:lstStyle/>
          <a:p>
            <a:pPr algn="ctr"/>
            <a:r>
              <a:rPr sz="1000" b="0" i="0">
                <a:solidFill>
                  <a:srgbClr val="595959"/>
                </a:solidFill>
                <a:latin typeface="Calibri"/>
              </a:rPr>
              <a:t>f</a:t>
            </a:r>
          </a:p>
        </p:txBody>
      </p:sp>
      <p:sp>
        <p:nvSpPr>
          <p:cNvPr id="142" name="TextBox 141"/>
          <p:cNvSpPr txBox="1"/>
          <p:nvPr/>
        </p:nvSpPr>
        <p:spPr>
          <a:xfrm>
            <a:off x="5230368" y="1828800"/>
            <a:ext cx="201168" cy="457200"/>
          </a:xfrm>
          <a:prstGeom prst="rect">
            <a:avLst/>
          </a:prstGeom>
          <a:noFill/>
        </p:spPr>
        <p:txBody>
          <a:bodyPr wrap="square" anchor="ctr" lIns="0" rIns="0" tIns="0" bIns="0">
            <a:spAutoFit/>
          </a:bodyPr>
          <a:lstStyle/>
          <a:p>
            <a:pPr algn="ctr"/>
            <a:r>
              <a:rPr sz="1000" b="0" i="0">
                <a:solidFill>
                  <a:srgbClr val="595959"/>
                </a:solidFill>
                <a:latin typeface="Calibri"/>
              </a:rPr>
              <a:t>6</a:t>
            </a:r>
          </a:p>
        </p:txBody>
      </p:sp>
      <p:sp>
        <p:nvSpPr>
          <p:cNvPr id="143" name="TextBox 142"/>
          <p:cNvSpPr txBox="1"/>
          <p:nvPr/>
        </p:nvSpPr>
        <p:spPr>
          <a:xfrm>
            <a:off x="8229600" y="4590288"/>
            <a:ext cx="457200" cy="228600"/>
          </a:xfrm>
          <a:prstGeom prst="rect">
            <a:avLst/>
          </a:prstGeom>
          <a:noFill/>
        </p:spPr>
        <p:txBody>
          <a:bodyPr wrap="square" anchor="t" lIns="0" rIns="0" tIns="0" bIns="0">
            <a:spAutoFit/>
          </a:bodyPr>
          <a:lstStyle/>
          <a:p>
            <a:pPr algn="ctr"/>
            <a:r>
              <a:rPr sz="1000" b="0" i="0">
                <a:solidFill>
                  <a:srgbClr val="595959"/>
                </a:solidFill>
                <a:latin typeface="Calibri"/>
              </a:rPr>
              <a:t>g</a:t>
            </a:r>
          </a:p>
        </p:txBody>
      </p:sp>
      <p:sp>
        <p:nvSpPr>
          <p:cNvPr id="144" name="TextBox 143"/>
          <p:cNvSpPr txBox="1"/>
          <p:nvPr/>
        </p:nvSpPr>
        <p:spPr>
          <a:xfrm>
            <a:off x="5230368" y="1371600"/>
            <a:ext cx="201168" cy="457200"/>
          </a:xfrm>
          <a:prstGeom prst="rect">
            <a:avLst/>
          </a:prstGeom>
          <a:noFill/>
        </p:spPr>
        <p:txBody>
          <a:bodyPr wrap="square" anchor="ctr" lIns="0" rIns="0" tIns="0" bIns="0">
            <a:spAutoFit/>
          </a:bodyPr>
          <a:lstStyle/>
          <a:p>
            <a:pPr algn="ctr"/>
            <a:r>
              <a:rPr sz="1000" b="0" i="0">
                <a:solidFill>
                  <a:srgbClr val="595959"/>
                </a:solidFill>
                <a:latin typeface="Calibri"/>
              </a:rPr>
              <a:t>7</a:t>
            </a:r>
          </a:p>
        </p:txBody>
      </p:sp>
      <p:sp>
        <p:nvSpPr>
          <p:cNvPr id="145" name="TextBox 144"/>
          <p:cNvSpPr txBox="1"/>
          <p:nvPr/>
        </p:nvSpPr>
        <p:spPr>
          <a:xfrm>
            <a:off x="8686800" y="4590288"/>
            <a:ext cx="457200" cy="228600"/>
          </a:xfrm>
          <a:prstGeom prst="rect">
            <a:avLst/>
          </a:prstGeom>
          <a:noFill/>
        </p:spPr>
        <p:txBody>
          <a:bodyPr wrap="square" anchor="t" lIns="0" rIns="0" tIns="0" bIns="0">
            <a:spAutoFit/>
          </a:bodyPr>
          <a:lstStyle/>
          <a:p>
            <a:pPr algn="ctr"/>
            <a:r>
              <a:rPr sz="1000" b="0" i="0">
                <a:solidFill>
                  <a:srgbClr val="595959"/>
                </a:solidFill>
                <a:latin typeface="Calibri"/>
              </a:rPr>
              <a:t>h</a:t>
            </a:r>
          </a:p>
        </p:txBody>
      </p:sp>
      <p:sp>
        <p:nvSpPr>
          <p:cNvPr id="146" name="TextBox 145"/>
          <p:cNvSpPr txBox="1"/>
          <p:nvPr/>
        </p:nvSpPr>
        <p:spPr>
          <a:xfrm>
            <a:off x="5230368" y="914400"/>
            <a:ext cx="201168" cy="457200"/>
          </a:xfrm>
          <a:prstGeom prst="rect">
            <a:avLst/>
          </a:prstGeom>
          <a:noFill/>
        </p:spPr>
        <p:txBody>
          <a:bodyPr wrap="square" anchor="ctr" lIns="0" rIns="0" tIns="0" bIns="0">
            <a:spAutoFit/>
          </a:bodyPr>
          <a:lstStyle/>
          <a:p>
            <a:pPr algn="ctr"/>
            <a:r>
              <a:rPr sz="1000" b="0" i="0">
                <a:solidFill>
                  <a:srgbClr val="595959"/>
                </a:solidFill>
                <a:latin typeface="Calibri"/>
              </a:rPr>
              <a:t>8</a:t>
            </a:r>
          </a:p>
        </p:txBody>
      </p:sp>
      <p:sp>
        <p:nvSpPr>
          <p:cNvPr id="147" name="TextBox 146"/>
          <p:cNvSpPr txBox="1"/>
          <p:nvPr/>
        </p:nvSpPr>
        <p:spPr>
          <a:xfrm>
            <a:off x="5486400" y="4846320"/>
            <a:ext cx="3657600" cy="274320"/>
          </a:xfrm>
          <a:prstGeom prst="rect">
            <a:avLst/>
          </a:prstGeom>
          <a:noFill/>
        </p:spPr>
        <p:txBody>
          <a:bodyPr wrap="square" anchor="t" lIns="0" rIns="0" tIns="0" bIns="0">
            <a:spAutoFit/>
          </a:bodyPr>
          <a:lstStyle/>
          <a:p>
            <a:pPr algn="l"/>
            <a:r>
              <a:rPr sz="1100" b="1" i="0">
                <a:solidFill>
                  <a:srgbClr val="595959"/>
                </a:solidFill>
                <a:latin typeface="Calibri"/>
              </a:rPr>
              <a:t>○  </a:t>
            </a:r>
            <a:r>
              <a:rPr sz="1100" b="0" i="0">
                <a:solidFill>
                  <a:srgbClr val="595959"/>
                </a:solidFill>
                <a:latin typeface="Calibri"/>
              </a:rPr>
              <a:t>Orbit of the c1 Gaja: the only 8 squares it can ever reach</a:t>
            </a:r>
          </a:p>
        </p:txBody>
      </p:sp>
      <p:sp>
        <p:nvSpPr>
          <p:cNvPr id="148" name="TextBox 147"/>
          <p:cNvSpPr txBox="1"/>
          <p:nvPr/>
        </p:nvSpPr>
        <p:spPr>
          <a:xfrm>
            <a:off x="9464040" y="914400"/>
            <a:ext cx="2377440" cy="502920"/>
          </a:xfrm>
          <a:prstGeom prst="rect">
            <a:avLst/>
          </a:prstGeom>
          <a:noFill/>
        </p:spPr>
        <p:txBody>
          <a:bodyPr wrap="square" anchor="t" lIns="0" rIns="0" tIns="0" bIns="0">
            <a:spAutoFit/>
          </a:bodyPr>
          <a:lstStyle/>
          <a:p>
            <a:pPr algn="l"/>
            <a:r>
              <a:rPr sz="1200" b="1" i="0">
                <a:solidFill>
                  <a:srgbClr val="1A1A1A"/>
                </a:solidFill>
                <a:latin typeface="Calibri"/>
              </a:rPr>
              <a:t>Estimated piece values</a:t>
            </a:r>
          </a:p>
          <a:p>
            <a:pPr algn="l"/>
            <a:r>
              <a:rPr sz="1200" b="0" i="0">
                <a:solidFill>
                  <a:srgbClr val="1A1A1A"/>
                </a:solidFill>
                <a:latin typeface="Calibri"/>
              </a:rPr>
              <a:t>(Padati = 1)</a:t>
            </a:r>
          </a:p>
        </p:txBody>
      </p:sp>
      <p:graphicFrame>
        <p:nvGraphicFramePr>
          <p:cNvPr id="149" name="Chart 148"/>
          <p:cNvGraphicFramePr>
            <a:graphicFrameLocks noGrp="1"/>
          </p:cNvGraphicFramePr>
          <p:nvPr/>
        </p:nvGraphicFramePr>
        <p:xfrm>
          <a:off x="9418320" y="1417320"/>
          <a:ext cx="2468880" cy="2377440"/>
        </p:xfrm>
        <a:graphic>
          <a:graphicData uri="http://schemas.openxmlformats.org/drawingml/2006/chart">
            <c:chart xmlns:c="http://schemas.openxmlformats.org/drawingml/2006/chart" r:id="rId2"/>
          </a:graphicData>
        </a:graphic>
      </p:graphicFrame>
      <p:sp>
        <p:nvSpPr>
          <p:cNvPr id="150" name="TextBox 149"/>
          <p:cNvSpPr txBox="1"/>
          <p:nvPr/>
        </p:nvSpPr>
        <p:spPr>
          <a:xfrm>
            <a:off x="9464040" y="3840480"/>
            <a:ext cx="2377440" cy="822960"/>
          </a:xfrm>
          <a:prstGeom prst="rect">
            <a:avLst/>
          </a:prstGeom>
          <a:noFill/>
        </p:spPr>
        <p:txBody>
          <a:bodyPr wrap="square" anchor="t" lIns="0" rIns="0" tIns="0" bIns="0">
            <a:spAutoFit/>
          </a:bodyPr>
          <a:lstStyle/>
          <a:p>
            <a:pPr algn="l"/>
            <a:r>
              <a:rPr sz="1100" b="0" i="1">
                <a:solidFill>
                  <a:srgbClr val="595959"/>
                </a:solidFill>
                <a:latin typeface="Calibri"/>
              </a:rPr>
              <a:t>The Mantri sits in the queen's square yet is the second-weakest piece</a:t>
            </a:r>
          </a:p>
        </p:txBody>
      </p:sp>
      <p:sp>
        <p:nvSpPr>
          <p:cNvPr id="151" name="Rectangle 150"/>
          <p:cNvSpPr/>
          <p:nvPr/>
        </p:nvSpPr>
        <p:spPr>
          <a:xfrm>
            <a:off x="5212080" y="5349240"/>
            <a:ext cx="2084831" cy="960120"/>
          </a:xfrm>
          <a:prstGeom prst="rect">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52" name="TextBox 151"/>
          <p:cNvSpPr txBox="1"/>
          <p:nvPr/>
        </p:nvSpPr>
        <p:spPr>
          <a:xfrm>
            <a:off x="5321808" y="5376672"/>
            <a:ext cx="548640" cy="914400"/>
          </a:xfrm>
          <a:prstGeom prst="rect">
            <a:avLst/>
          </a:prstGeom>
          <a:noFill/>
        </p:spPr>
        <p:txBody>
          <a:bodyPr wrap="square" anchor="ctr" lIns="0" rIns="0" tIns="0" bIns="0">
            <a:spAutoFit/>
          </a:bodyPr>
          <a:lstStyle/>
          <a:p>
            <a:pPr algn="l"/>
            <a:r>
              <a:rPr sz="3600" b="1" i="0">
                <a:solidFill>
                  <a:srgbClr val="FFFFFF"/>
                </a:solidFill>
                <a:latin typeface="Cambria"/>
              </a:rPr>
              <a:t>8</a:t>
            </a:r>
          </a:p>
        </p:txBody>
      </p:sp>
      <p:sp>
        <p:nvSpPr>
          <p:cNvPr id="153" name="TextBox 152"/>
          <p:cNvSpPr txBox="1"/>
          <p:nvPr/>
        </p:nvSpPr>
        <p:spPr>
          <a:xfrm>
            <a:off x="5852160" y="5394960"/>
            <a:ext cx="1371600" cy="868680"/>
          </a:xfrm>
          <a:prstGeom prst="rect">
            <a:avLst/>
          </a:prstGeom>
          <a:noFill/>
        </p:spPr>
        <p:txBody>
          <a:bodyPr wrap="square" anchor="ctr" lIns="0" rIns="0" tIns="0" bIns="0">
            <a:spAutoFit/>
          </a:bodyPr>
          <a:lstStyle/>
          <a:p>
            <a:pPr algn="l"/>
            <a:r>
              <a:rPr sz="1100" b="0" i="0">
                <a:solidFill>
                  <a:srgbClr val="FFFFFF"/>
                </a:solidFill>
                <a:latin typeface="Calibri"/>
              </a:rPr>
              <a:t>squares: a Gaja's lifetime reach, so it is worth ~1.5 not ~3</a:t>
            </a:r>
          </a:p>
        </p:txBody>
      </p:sp>
      <p:sp>
        <p:nvSpPr>
          <p:cNvPr id="154" name="Rectangle 153"/>
          <p:cNvSpPr/>
          <p:nvPr/>
        </p:nvSpPr>
        <p:spPr>
          <a:xfrm>
            <a:off x="7434072" y="5349240"/>
            <a:ext cx="2084831" cy="96012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55" name="TextBox 154"/>
          <p:cNvSpPr txBox="1"/>
          <p:nvPr/>
        </p:nvSpPr>
        <p:spPr>
          <a:xfrm>
            <a:off x="7543800" y="5376672"/>
            <a:ext cx="548640" cy="914400"/>
          </a:xfrm>
          <a:prstGeom prst="rect">
            <a:avLst/>
          </a:prstGeom>
          <a:noFill/>
        </p:spPr>
        <p:txBody>
          <a:bodyPr wrap="square" anchor="ctr" lIns="0" rIns="0" tIns="0" bIns="0">
            <a:spAutoFit/>
          </a:bodyPr>
          <a:lstStyle/>
          <a:p>
            <a:pPr algn="l"/>
            <a:r>
              <a:rPr sz="3600" b="1" i="0">
                <a:solidFill>
                  <a:srgbClr val="000000"/>
                </a:solidFill>
                <a:latin typeface="Cambria"/>
              </a:rPr>
              <a:t>1</a:t>
            </a:r>
          </a:p>
        </p:txBody>
      </p:sp>
      <p:sp>
        <p:nvSpPr>
          <p:cNvPr id="156" name="TextBox 155"/>
          <p:cNvSpPr txBox="1"/>
          <p:nvPr/>
        </p:nvSpPr>
        <p:spPr>
          <a:xfrm>
            <a:off x="8074152" y="5394960"/>
            <a:ext cx="1371600" cy="868680"/>
          </a:xfrm>
          <a:prstGeom prst="rect">
            <a:avLst/>
          </a:prstGeom>
          <a:noFill/>
        </p:spPr>
        <p:txBody>
          <a:bodyPr wrap="square" anchor="ctr" lIns="0" rIns="0" tIns="0" bIns="0">
            <a:spAutoFit/>
          </a:bodyPr>
          <a:lstStyle/>
          <a:p>
            <a:pPr algn="l"/>
            <a:r>
              <a:rPr sz="1100" b="0" i="0">
                <a:solidFill>
                  <a:srgbClr val="000000"/>
                </a:solidFill>
                <a:latin typeface="Calibri"/>
              </a:rPr>
              <a:t>sliding piece (Ratha); every other piece is a short leaper</a:t>
            </a:r>
          </a:p>
        </p:txBody>
      </p:sp>
      <p:sp>
        <p:nvSpPr>
          <p:cNvPr id="157" name="Rectangle 156"/>
          <p:cNvSpPr/>
          <p:nvPr/>
        </p:nvSpPr>
        <p:spPr>
          <a:xfrm>
            <a:off x="9656064" y="5349240"/>
            <a:ext cx="2084831" cy="960120"/>
          </a:xfrm>
          <a:prstGeom prst="rect">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58" name="TextBox 157"/>
          <p:cNvSpPr txBox="1"/>
          <p:nvPr/>
        </p:nvSpPr>
        <p:spPr>
          <a:xfrm>
            <a:off x="9765792" y="5376672"/>
            <a:ext cx="548640" cy="914400"/>
          </a:xfrm>
          <a:prstGeom prst="rect">
            <a:avLst/>
          </a:prstGeom>
          <a:noFill/>
        </p:spPr>
        <p:txBody>
          <a:bodyPr wrap="square" anchor="ctr" lIns="0" rIns="0" tIns="0" bIns="0">
            <a:spAutoFit/>
          </a:bodyPr>
          <a:lstStyle/>
          <a:p>
            <a:pPr algn="l"/>
            <a:r>
              <a:rPr sz="3600" b="1" i="0">
                <a:solidFill>
                  <a:srgbClr val="FFFFFF"/>
                </a:solidFill>
                <a:latin typeface="Cambria"/>
              </a:rPr>
              <a:t>0</a:t>
            </a:r>
          </a:p>
        </p:txBody>
      </p:sp>
      <p:sp>
        <p:nvSpPr>
          <p:cNvPr id="159" name="TextBox 158"/>
          <p:cNvSpPr txBox="1"/>
          <p:nvPr/>
        </p:nvSpPr>
        <p:spPr>
          <a:xfrm>
            <a:off x="10296144" y="5394960"/>
            <a:ext cx="1371600" cy="868680"/>
          </a:xfrm>
          <a:prstGeom prst="rect">
            <a:avLst/>
          </a:prstGeom>
          <a:noFill/>
        </p:spPr>
        <p:txBody>
          <a:bodyPr wrap="square" anchor="ctr" lIns="0" rIns="0" tIns="0" bIns="0">
            <a:spAutoFit/>
          </a:bodyPr>
          <a:lstStyle/>
          <a:p>
            <a:pPr algn="l"/>
            <a:r>
              <a:rPr sz="1100" b="0" i="0">
                <a:solidFill>
                  <a:srgbClr val="FFFFFF"/>
                </a:solidFill>
                <a:latin typeface="Calibri"/>
              </a:rPr>
              <a:t>check rules: the Raja fights, and its capture ends the game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594360"/>
          </a:xfrm>
          <a:prstGeom prst="rect">
            <a:avLst/>
          </a:prstGeom>
          <a:noFill/>
        </p:spPr>
        <p:txBody>
          <a:bodyPr wrap="square" anchor="t" lIns="0" rIns="0" tIns="0" bIns="0">
            <a:spAutoFit/>
          </a:bodyPr>
          <a:lstStyle/>
          <a:p>
            <a:pPr algn="l"/>
            <a:r>
              <a:rPr sz="3400" b="1" i="0">
                <a:solidFill>
                  <a:srgbClr val="000000"/>
                </a:solidFill>
                <a:latin typeface="Cambria"/>
              </a:rPr>
              <a:t>A frozen ruleset that simplifies the engineering</a:t>
            </a:r>
          </a:p>
        </p:txBody>
      </p:sp>
      <p:sp>
        <p:nvSpPr>
          <p:cNvPr id="3" name="TextBox 2"/>
          <p:cNvSpPr txBox="1"/>
          <p:nvPr/>
        </p:nvSpPr>
        <p:spPr>
          <a:xfrm>
            <a:off x="457200" y="841248"/>
            <a:ext cx="11247120" cy="292608"/>
          </a:xfrm>
          <a:prstGeom prst="rect">
            <a:avLst/>
          </a:prstGeom>
          <a:noFill/>
        </p:spPr>
        <p:txBody>
          <a:bodyPr wrap="square" anchor="t" lIns="0" rIns="0" tIns="0" bIns="0">
            <a:spAutoFit/>
          </a:bodyPr>
          <a:lstStyle/>
          <a:p>
            <a:pPr algn="l"/>
            <a:r>
              <a:rPr sz="1400" b="0" i="1">
                <a:solidFill>
                  <a:srgbClr val="595959"/>
                </a:solidFill>
                <a:latin typeface="Calibri"/>
              </a:rPr>
              <a:t>We chose the historically authentic rules; each one removes or adds engineering work</a:t>
            </a:r>
          </a:p>
        </p:txBody>
      </p:sp>
      <p:sp>
        <p:nvSpPr>
          <p:cNvPr id="4" name="TextBox 3"/>
          <p:cNvSpPr txBox="1"/>
          <p:nvPr/>
        </p:nvSpPr>
        <p:spPr>
          <a:xfrm>
            <a:off x="457200" y="6473952"/>
            <a:ext cx="5486400" cy="256032"/>
          </a:xfrm>
          <a:prstGeom prst="rect">
            <a:avLst/>
          </a:prstGeom>
          <a:noFill/>
        </p:spPr>
        <p:txBody>
          <a:bodyPr wrap="square" anchor="t" lIns="0" rIns="0" tIns="0" bIns="0">
            <a:spAutoFit/>
          </a:bodyPr>
          <a:lstStyle/>
          <a:p>
            <a:pPr algn="l"/>
            <a:r>
              <a:rPr sz="1000" b="0" i="0">
                <a:solidFill>
                  <a:srgbClr val="595959"/>
                </a:solidFill>
                <a:latin typeface="Calibri"/>
              </a:rPr>
              <a:t>ChaturangaZero  |  2 / 4</a:t>
            </a:r>
          </a:p>
        </p:txBody>
      </p:sp>
      <p:sp>
        <p:nvSpPr>
          <p:cNvPr id="5" name="Rectangle 4"/>
          <p:cNvSpPr/>
          <p:nvPr/>
        </p:nvSpPr>
        <p:spPr>
          <a:xfrm>
            <a:off x="457200" y="1316736"/>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 name="Rectangle 5"/>
          <p:cNvSpPr/>
          <p:nvPr/>
        </p:nvSpPr>
        <p:spPr>
          <a:xfrm>
            <a:off x="457200" y="1417320"/>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ectangle 6"/>
          <p:cNvSpPr/>
          <p:nvPr/>
        </p:nvSpPr>
        <p:spPr>
          <a:xfrm>
            <a:off x="557784" y="1316736"/>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Rectangle 7"/>
          <p:cNvSpPr/>
          <p:nvPr/>
        </p:nvSpPr>
        <p:spPr>
          <a:xfrm>
            <a:off x="557784" y="1417320"/>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TextBox 8"/>
          <p:cNvSpPr txBox="1"/>
          <p:nvPr/>
        </p:nvSpPr>
        <p:spPr>
          <a:xfrm>
            <a:off x="749808" y="1280160"/>
            <a:ext cx="2450592" cy="274320"/>
          </a:xfrm>
          <a:prstGeom prst="rect">
            <a:avLst/>
          </a:prstGeom>
          <a:noFill/>
        </p:spPr>
        <p:txBody>
          <a:bodyPr wrap="square" anchor="t" lIns="0" rIns="0" tIns="0" bIns="0">
            <a:spAutoFit/>
          </a:bodyPr>
          <a:lstStyle/>
          <a:p>
            <a:pPr algn="l"/>
            <a:r>
              <a:rPr sz="1200" b="1" i="0">
                <a:solidFill>
                  <a:srgbClr val="1A1A1A"/>
                </a:solidFill>
                <a:latin typeface="Calibri"/>
              </a:rPr>
              <a:t>RULE</a:t>
            </a:r>
          </a:p>
        </p:txBody>
      </p:sp>
      <p:sp>
        <p:nvSpPr>
          <p:cNvPr id="10" name="Rectangle 9"/>
          <p:cNvSpPr/>
          <p:nvPr/>
        </p:nvSpPr>
        <p:spPr>
          <a:xfrm>
            <a:off x="3566160" y="1316736"/>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Rectangle 10"/>
          <p:cNvSpPr/>
          <p:nvPr/>
        </p:nvSpPr>
        <p:spPr>
          <a:xfrm>
            <a:off x="3566160" y="1417320"/>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Rectangle 11"/>
          <p:cNvSpPr/>
          <p:nvPr/>
        </p:nvSpPr>
        <p:spPr>
          <a:xfrm>
            <a:off x="3666744" y="1316736"/>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Rectangle 12"/>
          <p:cNvSpPr/>
          <p:nvPr/>
        </p:nvSpPr>
        <p:spPr>
          <a:xfrm>
            <a:off x="3666744" y="1417320"/>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TextBox 13"/>
          <p:cNvSpPr txBox="1"/>
          <p:nvPr/>
        </p:nvSpPr>
        <p:spPr>
          <a:xfrm>
            <a:off x="3858768" y="1280160"/>
            <a:ext cx="3547872" cy="274320"/>
          </a:xfrm>
          <a:prstGeom prst="rect">
            <a:avLst/>
          </a:prstGeom>
          <a:noFill/>
        </p:spPr>
        <p:txBody>
          <a:bodyPr wrap="square" anchor="t" lIns="0" rIns="0" tIns="0" bIns="0">
            <a:spAutoFit/>
          </a:bodyPr>
          <a:lstStyle/>
          <a:p>
            <a:pPr algn="l"/>
            <a:r>
              <a:rPr sz="1200" b="1" i="0">
                <a:solidFill>
                  <a:srgbClr val="1A1A1A"/>
                </a:solidFill>
                <a:latin typeface="Calibri"/>
              </a:rPr>
              <a:t>ENGINEERING CONSEQUENCE</a:t>
            </a:r>
          </a:p>
        </p:txBody>
      </p:sp>
      <p:sp>
        <p:nvSpPr>
          <p:cNvPr id="15" name="Rectangle 14"/>
          <p:cNvSpPr/>
          <p:nvPr/>
        </p:nvSpPr>
        <p:spPr>
          <a:xfrm>
            <a:off x="8001000" y="1316736"/>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Rectangle 15"/>
          <p:cNvSpPr/>
          <p:nvPr/>
        </p:nvSpPr>
        <p:spPr>
          <a:xfrm>
            <a:off x="8001000" y="1417320"/>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Rectangle 16"/>
          <p:cNvSpPr/>
          <p:nvPr/>
        </p:nvSpPr>
        <p:spPr>
          <a:xfrm>
            <a:off x="8101583" y="1316736"/>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8" name="Rectangle 17"/>
          <p:cNvSpPr/>
          <p:nvPr/>
        </p:nvSpPr>
        <p:spPr>
          <a:xfrm>
            <a:off x="8101583" y="1417320"/>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TextBox 18"/>
          <p:cNvSpPr txBox="1"/>
          <p:nvPr/>
        </p:nvSpPr>
        <p:spPr>
          <a:xfrm>
            <a:off x="8293608" y="1280160"/>
            <a:ext cx="3547872" cy="274320"/>
          </a:xfrm>
          <a:prstGeom prst="rect">
            <a:avLst/>
          </a:prstGeom>
          <a:noFill/>
        </p:spPr>
        <p:txBody>
          <a:bodyPr wrap="square" anchor="t" lIns="0" rIns="0" tIns="0" bIns="0">
            <a:spAutoFit/>
          </a:bodyPr>
          <a:lstStyle/>
          <a:p>
            <a:pPr algn="l"/>
            <a:r>
              <a:rPr sz="1200" b="1" i="0">
                <a:solidFill>
                  <a:srgbClr val="1A1A1A"/>
                </a:solidFill>
                <a:latin typeface="Calibri"/>
              </a:rPr>
              <a:t>TERMINAL LADDER · CHECKED IN ORDER</a:t>
            </a:r>
          </a:p>
        </p:txBody>
      </p:sp>
      <p:sp>
        <p:nvSpPr>
          <p:cNvPr id="20" name="Rectangle 19"/>
          <p:cNvSpPr/>
          <p:nvPr/>
        </p:nvSpPr>
        <p:spPr>
          <a:xfrm>
            <a:off x="457200" y="1691640"/>
            <a:ext cx="2651760" cy="731520"/>
          </a:xfrm>
          <a:prstGeom prst="rect">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300" b="1" i="0">
                <a:solidFill>
                  <a:srgbClr val="FFFFFF"/>
                </a:solidFill>
                <a:latin typeface="Calibri"/>
              </a:rPr>
              <a:t>No check, no checkmate</a:t>
            </a:r>
          </a:p>
          <a:p>
            <a:pPr algn="l"/>
            <a:r>
              <a:rPr sz="1100" b="0" i="0">
                <a:solidFill>
                  <a:srgbClr val="D9D9D9"/>
                </a:solidFill>
                <a:latin typeface="Calibri"/>
              </a:rPr>
              <a:t>Raja capture ends the game</a:t>
            </a:r>
          </a:p>
        </p:txBody>
      </p:sp>
      <p:cxnSp>
        <p:nvCxnSpPr>
          <p:cNvPr id="21" name="Connector 20"/>
          <p:cNvCxnSpPr/>
          <p:nvPr/>
        </p:nvCxnSpPr>
        <p:spPr>
          <a:xfrm>
            <a:off x="3127248" y="2057400"/>
            <a:ext cx="420624"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3566160" y="1691640"/>
            <a:ext cx="3931920" cy="73152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200" b="1" i="0">
                <a:solidFill>
                  <a:srgbClr val="1A1A1A"/>
                </a:solidFill>
                <a:latin typeface="Calibri"/>
              </a:rPr>
              <a:t>Pseudo-legal = legal. </a:t>
            </a:r>
            <a:r>
              <a:rPr sz="1200" b="0" i="0">
                <a:solidFill>
                  <a:srgbClr val="1A1A1A"/>
                </a:solidFill>
                <a:latin typeface="Calibri"/>
              </a:rPr>
              <a:t>No pins, no king-safety filter: ~50–60% of move-gen bug surface removed</a:t>
            </a:r>
          </a:p>
        </p:txBody>
      </p:sp>
      <p:sp>
        <p:nvSpPr>
          <p:cNvPr id="23" name="Rectangle 22"/>
          <p:cNvSpPr/>
          <p:nvPr/>
        </p:nvSpPr>
        <p:spPr>
          <a:xfrm>
            <a:off x="457200" y="2606040"/>
            <a:ext cx="2651760" cy="731520"/>
          </a:xfrm>
          <a:prstGeom prst="rect">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300" b="1" i="0">
                <a:solidFill>
                  <a:srgbClr val="FFFFFF"/>
                </a:solidFill>
                <a:latin typeface="Calibri"/>
              </a:rPr>
              <a:t>No castling, no en passant</a:t>
            </a:r>
          </a:p>
          <a:p>
            <a:pPr algn="l"/>
            <a:r>
              <a:rPr sz="1100" b="0" i="0">
                <a:solidFill>
                  <a:srgbClr val="D9D9D9"/>
                </a:solidFill>
                <a:latin typeface="Calibri"/>
              </a:rPr>
              <a:t>No double pawn step</a:t>
            </a:r>
          </a:p>
        </p:txBody>
      </p:sp>
      <p:cxnSp>
        <p:nvCxnSpPr>
          <p:cNvPr id="24" name="Connector 23"/>
          <p:cNvCxnSpPr/>
          <p:nvPr/>
        </p:nvCxnSpPr>
        <p:spPr>
          <a:xfrm>
            <a:off x="3127248" y="2971800"/>
            <a:ext cx="420624"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566160" y="2606040"/>
            <a:ext cx="3931920" cy="73152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200" b="1" i="0">
                <a:solidFill>
                  <a:srgbClr val="1A1A1A"/>
                </a:solidFill>
                <a:latin typeface="Calibri"/>
              </a:rPr>
              <a:t>Fully Markov state. </a:t>
            </a:r>
            <a:r>
              <a:rPr sz="1200" b="0" i="0">
                <a:solidFill>
                  <a:srgbClr val="1A1A1A"/>
                </a:solidFill>
                <a:latin typeface="Calibri"/>
              </a:rPr>
              <a:t>14 input planes, no history; board mirror becomes legal → 2× data</a:t>
            </a:r>
          </a:p>
        </p:txBody>
      </p:sp>
      <p:sp>
        <p:nvSpPr>
          <p:cNvPr id="26" name="Rectangle 25"/>
          <p:cNvSpPr/>
          <p:nvPr/>
        </p:nvSpPr>
        <p:spPr>
          <a:xfrm>
            <a:off x="457200" y="3520440"/>
            <a:ext cx="2651760" cy="731520"/>
          </a:xfrm>
          <a:prstGeom prst="rect">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300" b="1" i="0">
                <a:solidFill>
                  <a:srgbClr val="FFFFFF"/>
                </a:solidFill>
                <a:latin typeface="Calibri"/>
              </a:rPr>
              <a:t>Forced promotion to Mantri</a:t>
            </a:r>
          </a:p>
          <a:p>
            <a:pPr algn="l"/>
            <a:r>
              <a:rPr sz="1100" b="0" i="0">
                <a:solidFill>
                  <a:srgbClr val="D9D9D9"/>
                </a:solidFill>
                <a:latin typeface="Calibri"/>
              </a:rPr>
              <a:t>Padati on last rank</a:t>
            </a:r>
          </a:p>
        </p:txBody>
      </p:sp>
      <p:cxnSp>
        <p:nvCxnSpPr>
          <p:cNvPr id="27" name="Connector 26"/>
          <p:cNvCxnSpPr/>
          <p:nvPr/>
        </p:nvCxnSpPr>
        <p:spPr>
          <a:xfrm>
            <a:off x="3127248" y="3886200"/>
            <a:ext cx="420624"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566160" y="3520440"/>
            <a:ext cx="3931920" cy="73152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200" b="1" i="0">
                <a:solidFill>
                  <a:srgbClr val="1A1A1A"/>
                </a:solidFill>
                <a:latin typeface="Calibri"/>
              </a:rPr>
              <a:t>Action = from × 64 + to. </a:t>
            </a:r>
            <a:r>
              <a:rPr sz="1200" b="0" i="0">
                <a:solidFill>
                  <a:srgbClr val="1A1A1A"/>
                </a:solidFill>
                <a:latin typeface="Calibri"/>
              </a:rPr>
              <a:t>Exactly 4,096 actions, no special cases</a:t>
            </a:r>
          </a:p>
        </p:txBody>
      </p:sp>
      <p:sp>
        <p:nvSpPr>
          <p:cNvPr id="29" name="Rectangle 28"/>
          <p:cNvSpPr/>
          <p:nvPr/>
        </p:nvSpPr>
        <p:spPr>
          <a:xfrm>
            <a:off x="457200" y="4434840"/>
            <a:ext cx="2651760" cy="731520"/>
          </a:xfrm>
          <a:prstGeom prst="rect">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300" b="1" i="0">
                <a:solidFill>
                  <a:srgbClr val="FFFFFF"/>
                </a:solidFill>
                <a:latin typeface="Calibri"/>
              </a:rPr>
              <a:t>Bare king loses</a:t>
            </a:r>
          </a:p>
          <a:p>
            <a:pPr algn="l"/>
            <a:r>
              <a:rPr sz="1100" b="0" i="0">
                <a:solidFill>
                  <a:srgbClr val="D9D9D9"/>
                </a:solidFill>
                <a:latin typeface="Calibri"/>
              </a:rPr>
              <a:t>King vs King is a draw</a:t>
            </a:r>
          </a:p>
        </p:txBody>
      </p:sp>
      <p:cxnSp>
        <p:nvCxnSpPr>
          <p:cNvPr id="30" name="Connector 29"/>
          <p:cNvCxnSpPr/>
          <p:nvPr/>
        </p:nvCxnSpPr>
        <p:spPr>
          <a:xfrm>
            <a:off x="3127248" y="4800600"/>
            <a:ext cx="420624"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566160" y="4434840"/>
            <a:ext cx="3931920" cy="73152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200" b="1" i="0">
                <a:solidFill>
                  <a:srgbClr val="1A1A1A"/>
                </a:solidFill>
                <a:latin typeface="Calibri"/>
              </a:rPr>
              <a:t>Decisive games. </a:t>
            </a:r>
            <a:r>
              <a:rPr sz="1200" b="0" i="0">
                <a:solidFill>
                  <a:srgbClr val="1A1A1A"/>
                </a:solidFill>
                <a:latin typeface="Calibri"/>
              </a:rPr>
              <a:t>No mating technique needed: low draw rate, strong value signal</a:t>
            </a:r>
          </a:p>
        </p:txBody>
      </p:sp>
      <p:sp>
        <p:nvSpPr>
          <p:cNvPr id="32" name="Rectangle 31"/>
          <p:cNvSpPr/>
          <p:nvPr/>
        </p:nvSpPr>
        <p:spPr>
          <a:xfrm>
            <a:off x="457200" y="5349240"/>
            <a:ext cx="2651760" cy="731520"/>
          </a:xfrm>
          <a:prstGeom prst="rect">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300" b="1" i="0">
                <a:solidFill>
                  <a:srgbClr val="FFFFFF"/>
                </a:solidFill>
                <a:latin typeface="Calibri"/>
              </a:rPr>
              <a:t>No repetition or 50-move rule</a:t>
            </a:r>
          </a:p>
          <a:p>
            <a:pPr algn="l"/>
            <a:r>
              <a:rPr sz="1100" b="0" i="0">
                <a:solidFill>
                  <a:srgbClr val="D9D9D9"/>
                </a:solidFill>
                <a:latin typeface="Calibri"/>
              </a:rPr>
              <a:t>Positions may repeat freely</a:t>
            </a:r>
          </a:p>
        </p:txBody>
      </p:sp>
      <p:cxnSp>
        <p:nvCxnSpPr>
          <p:cNvPr id="33" name="Connector 32"/>
          <p:cNvCxnSpPr/>
          <p:nvPr/>
        </p:nvCxnSpPr>
        <p:spPr>
          <a:xfrm>
            <a:off x="3127248" y="5715000"/>
            <a:ext cx="420624"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3566160" y="5349240"/>
            <a:ext cx="3931920" cy="731520"/>
          </a:xfrm>
          <a:prstGeom prst="rect">
            <a:avLst/>
          </a:prstGeom>
          <a:solidFill>
            <a:srgbClr val="F0F0F0"/>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200" b="1" i="0">
                <a:solidFill>
                  <a:srgbClr val="1A1A1A"/>
                </a:solidFill>
                <a:latin typeface="Calibri"/>
              </a:rPr>
              <a:t>Risk: games can loop forever. </a:t>
            </a:r>
            <a:r>
              <a:rPr sz="1200" b="0" i="0">
                <a:solidFill>
                  <a:srgbClr val="1A1A1A"/>
                </a:solidFill>
                <a:latin typeface="Calibri"/>
              </a:rPr>
              <a:t>A 300-ply cap is the only termination guarantee</a:t>
            </a:r>
          </a:p>
        </p:txBody>
      </p:sp>
      <p:sp>
        <p:nvSpPr>
          <p:cNvPr id="35" name="Rectangle 34"/>
          <p:cNvSpPr/>
          <p:nvPr/>
        </p:nvSpPr>
        <p:spPr>
          <a:xfrm>
            <a:off x="8001000" y="1691640"/>
            <a:ext cx="2331720" cy="73152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6" name="Oval 35"/>
          <p:cNvSpPr/>
          <p:nvPr/>
        </p:nvSpPr>
        <p:spPr>
          <a:xfrm>
            <a:off x="8110727" y="1874520"/>
            <a:ext cx="365760" cy="36576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1</a:t>
            </a:r>
          </a:p>
        </p:txBody>
      </p:sp>
      <p:sp>
        <p:nvSpPr>
          <p:cNvPr id="37" name="TextBox 36"/>
          <p:cNvSpPr txBox="1"/>
          <p:nvPr/>
        </p:nvSpPr>
        <p:spPr>
          <a:xfrm>
            <a:off x="8567928" y="1691640"/>
            <a:ext cx="1737360" cy="731520"/>
          </a:xfrm>
          <a:prstGeom prst="rect">
            <a:avLst/>
          </a:prstGeom>
          <a:noFill/>
        </p:spPr>
        <p:txBody>
          <a:bodyPr wrap="square" anchor="ctr" lIns="0" rIns="0" tIns="0" bIns="0">
            <a:spAutoFit/>
          </a:bodyPr>
          <a:lstStyle/>
          <a:p>
            <a:pPr algn="l"/>
            <a:r>
              <a:rPr sz="1300" b="1" i="0">
                <a:solidFill>
                  <a:srgbClr val="1A1A1A"/>
                </a:solidFill>
                <a:latin typeface="Calibri"/>
              </a:rPr>
              <a:t>Raja captured?</a:t>
            </a:r>
          </a:p>
        </p:txBody>
      </p:sp>
      <p:cxnSp>
        <p:nvCxnSpPr>
          <p:cNvPr id="38" name="Connector 37"/>
          <p:cNvCxnSpPr/>
          <p:nvPr/>
        </p:nvCxnSpPr>
        <p:spPr>
          <a:xfrm>
            <a:off x="10351008" y="2057400"/>
            <a:ext cx="329184"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314432" y="1737360"/>
            <a:ext cx="365760" cy="228600"/>
          </a:xfrm>
          <a:prstGeom prst="rect">
            <a:avLst/>
          </a:prstGeom>
          <a:noFill/>
        </p:spPr>
        <p:txBody>
          <a:bodyPr wrap="square" anchor="t" lIns="0" rIns="0" tIns="0" bIns="0">
            <a:spAutoFit/>
          </a:bodyPr>
          <a:lstStyle/>
          <a:p>
            <a:pPr algn="ctr"/>
            <a:r>
              <a:rPr sz="1000" b="0" i="0">
                <a:solidFill>
                  <a:srgbClr val="595959"/>
                </a:solidFill>
                <a:latin typeface="Calibri"/>
              </a:rPr>
              <a:t>yes</a:t>
            </a:r>
          </a:p>
        </p:txBody>
      </p:sp>
      <p:sp>
        <p:nvSpPr>
          <p:cNvPr id="40" name="Rounded Rectangle 39"/>
          <p:cNvSpPr/>
          <p:nvPr/>
        </p:nvSpPr>
        <p:spPr>
          <a:xfrm>
            <a:off x="10698480" y="1783080"/>
            <a:ext cx="1051560" cy="54864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1" i="0">
                <a:solidFill>
                  <a:srgbClr val="000000"/>
                </a:solidFill>
                <a:latin typeface="Calibri"/>
              </a:rPr>
              <a:t>Lose  −1</a:t>
            </a:r>
          </a:p>
        </p:txBody>
      </p:sp>
      <p:cxnSp>
        <p:nvCxnSpPr>
          <p:cNvPr id="41" name="Connector 40"/>
          <p:cNvCxnSpPr/>
          <p:nvPr/>
        </p:nvCxnSpPr>
        <p:spPr>
          <a:xfrm>
            <a:off x="9166860" y="2423160"/>
            <a:ext cx="0" cy="18288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235440" y="2404872"/>
            <a:ext cx="365760" cy="201168"/>
          </a:xfrm>
          <a:prstGeom prst="rect">
            <a:avLst/>
          </a:prstGeom>
          <a:noFill/>
        </p:spPr>
        <p:txBody>
          <a:bodyPr wrap="square" anchor="t" lIns="0" rIns="0" tIns="0" bIns="0">
            <a:spAutoFit/>
          </a:bodyPr>
          <a:lstStyle/>
          <a:p>
            <a:pPr algn="l"/>
            <a:r>
              <a:rPr sz="1000" b="0" i="0">
                <a:solidFill>
                  <a:srgbClr val="595959"/>
                </a:solidFill>
                <a:latin typeface="Calibri"/>
              </a:rPr>
              <a:t>no</a:t>
            </a:r>
          </a:p>
        </p:txBody>
      </p:sp>
      <p:sp>
        <p:nvSpPr>
          <p:cNvPr id="43" name="Rectangle 42"/>
          <p:cNvSpPr/>
          <p:nvPr/>
        </p:nvSpPr>
        <p:spPr>
          <a:xfrm>
            <a:off x="8001000" y="2606040"/>
            <a:ext cx="2331720" cy="73152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4" name="Oval 43"/>
          <p:cNvSpPr/>
          <p:nvPr/>
        </p:nvSpPr>
        <p:spPr>
          <a:xfrm>
            <a:off x="8110727" y="2788920"/>
            <a:ext cx="365760" cy="36576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2</a:t>
            </a:r>
          </a:p>
        </p:txBody>
      </p:sp>
      <p:sp>
        <p:nvSpPr>
          <p:cNvPr id="45" name="TextBox 44"/>
          <p:cNvSpPr txBox="1"/>
          <p:nvPr/>
        </p:nvSpPr>
        <p:spPr>
          <a:xfrm>
            <a:off x="8567928" y="2606040"/>
            <a:ext cx="1737360" cy="731520"/>
          </a:xfrm>
          <a:prstGeom prst="rect">
            <a:avLst/>
          </a:prstGeom>
          <a:noFill/>
        </p:spPr>
        <p:txBody>
          <a:bodyPr wrap="square" anchor="ctr" lIns="0" rIns="0" tIns="0" bIns="0">
            <a:spAutoFit/>
          </a:bodyPr>
          <a:lstStyle/>
          <a:p>
            <a:pPr algn="l"/>
            <a:r>
              <a:rPr sz="1300" b="1" i="0">
                <a:solidFill>
                  <a:srgbClr val="1A1A1A"/>
                </a:solidFill>
                <a:latin typeface="Calibri"/>
              </a:rPr>
              <a:t>King vs King?</a:t>
            </a:r>
          </a:p>
        </p:txBody>
      </p:sp>
      <p:cxnSp>
        <p:nvCxnSpPr>
          <p:cNvPr id="46" name="Connector 45"/>
          <p:cNvCxnSpPr/>
          <p:nvPr/>
        </p:nvCxnSpPr>
        <p:spPr>
          <a:xfrm>
            <a:off x="10351008" y="2971800"/>
            <a:ext cx="329184"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314432" y="2651760"/>
            <a:ext cx="365760" cy="228600"/>
          </a:xfrm>
          <a:prstGeom prst="rect">
            <a:avLst/>
          </a:prstGeom>
          <a:noFill/>
        </p:spPr>
        <p:txBody>
          <a:bodyPr wrap="square" anchor="t" lIns="0" rIns="0" tIns="0" bIns="0">
            <a:spAutoFit/>
          </a:bodyPr>
          <a:lstStyle/>
          <a:p>
            <a:pPr algn="ctr"/>
            <a:r>
              <a:rPr sz="1000" b="0" i="0">
                <a:solidFill>
                  <a:srgbClr val="595959"/>
                </a:solidFill>
                <a:latin typeface="Calibri"/>
              </a:rPr>
              <a:t>yes</a:t>
            </a:r>
          </a:p>
        </p:txBody>
      </p:sp>
      <p:sp>
        <p:nvSpPr>
          <p:cNvPr id="48" name="Rounded Rectangle 47"/>
          <p:cNvSpPr/>
          <p:nvPr/>
        </p:nvSpPr>
        <p:spPr>
          <a:xfrm>
            <a:off x="10698480" y="2697480"/>
            <a:ext cx="1051560" cy="54864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1" i="0">
                <a:solidFill>
                  <a:srgbClr val="000000"/>
                </a:solidFill>
                <a:latin typeface="Calibri"/>
              </a:rPr>
              <a:t>Draw  0</a:t>
            </a:r>
          </a:p>
        </p:txBody>
      </p:sp>
      <p:cxnSp>
        <p:nvCxnSpPr>
          <p:cNvPr id="49" name="Connector 48"/>
          <p:cNvCxnSpPr/>
          <p:nvPr/>
        </p:nvCxnSpPr>
        <p:spPr>
          <a:xfrm>
            <a:off x="9166860" y="3337560"/>
            <a:ext cx="0" cy="18288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235440" y="3319272"/>
            <a:ext cx="365760" cy="201168"/>
          </a:xfrm>
          <a:prstGeom prst="rect">
            <a:avLst/>
          </a:prstGeom>
          <a:noFill/>
        </p:spPr>
        <p:txBody>
          <a:bodyPr wrap="square" anchor="t" lIns="0" rIns="0" tIns="0" bIns="0">
            <a:spAutoFit/>
          </a:bodyPr>
          <a:lstStyle/>
          <a:p>
            <a:pPr algn="l"/>
            <a:r>
              <a:rPr sz="1000" b="0" i="0">
                <a:solidFill>
                  <a:srgbClr val="595959"/>
                </a:solidFill>
                <a:latin typeface="Calibri"/>
              </a:rPr>
              <a:t>no</a:t>
            </a:r>
          </a:p>
        </p:txBody>
      </p:sp>
      <p:sp>
        <p:nvSpPr>
          <p:cNvPr id="51" name="Rectangle 50"/>
          <p:cNvSpPr/>
          <p:nvPr/>
        </p:nvSpPr>
        <p:spPr>
          <a:xfrm>
            <a:off x="8001000" y="3520440"/>
            <a:ext cx="2331720" cy="73152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2" name="Oval 51"/>
          <p:cNvSpPr/>
          <p:nvPr/>
        </p:nvSpPr>
        <p:spPr>
          <a:xfrm>
            <a:off x="8110727" y="3703320"/>
            <a:ext cx="365760" cy="36576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3</a:t>
            </a:r>
          </a:p>
        </p:txBody>
      </p:sp>
      <p:sp>
        <p:nvSpPr>
          <p:cNvPr id="53" name="TextBox 52"/>
          <p:cNvSpPr txBox="1"/>
          <p:nvPr/>
        </p:nvSpPr>
        <p:spPr>
          <a:xfrm>
            <a:off x="8567928" y="3520440"/>
            <a:ext cx="1737360" cy="731520"/>
          </a:xfrm>
          <a:prstGeom prst="rect">
            <a:avLst/>
          </a:prstGeom>
          <a:noFill/>
        </p:spPr>
        <p:txBody>
          <a:bodyPr wrap="square" anchor="ctr" lIns="0" rIns="0" tIns="0" bIns="0">
            <a:spAutoFit/>
          </a:bodyPr>
          <a:lstStyle/>
          <a:p>
            <a:pPr algn="l"/>
            <a:r>
              <a:rPr sz="1300" b="1" i="0">
                <a:solidFill>
                  <a:srgbClr val="1A1A1A"/>
                </a:solidFill>
                <a:latin typeface="Calibri"/>
              </a:rPr>
              <a:t>Bare king?</a:t>
            </a:r>
          </a:p>
        </p:txBody>
      </p:sp>
      <p:cxnSp>
        <p:nvCxnSpPr>
          <p:cNvPr id="54" name="Connector 53"/>
          <p:cNvCxnSpPr/>
          <p:nvPr/>
        </p:nvCxnSpPr>
        <p:spPr>
          <a:xfrm>
            <a:off x="10351008" y="3886200"/>
            <a:ext cx="329184"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0314432" y="3566160"/>
            <a:ext cx="365760" cy="228600"/>
          </a:xfrm>
          <a:prstGeom prst="rect">
            <a:avLst/>
          </a:prstGeom>
          <a:noFill/>
        </p:spPr>
        <p:txBody>
          <a:bodyPr wrap="square" anchor="t" lIns="0" rIns="0" tIns="0" bIns="0">
            <a:spAutoFit/>
          </a:bodyPr>
          <a:lstStyle/>
          <a:p>
            <a:pPr algn="ctr"/>
            <a:r>
              <a:rPr sz="1000" b="0" i="0">
                <a:solidFill>
                  <a:srgbClr val="595959"/>
                </a:solidFill>
                <a:latin typeface="Calibri"/>
              </a:rPr>
              <a:t>yes</a:t>
            </a:r>
          </a:p>
        </p:txBody>
      </p:sp>
      <p:sp>
        <p:nvSpPr>
          <p:cNvPr id="56" name="Rounded Rectangle 55"/>
          <p:cNvSpPr/>
          <p:nvPr/>
        </p:nvSpPr>
        <p:spPr>
          <a:xfrm>
            <a:off x="10698480" y="3611880"/>
            <a:ext cx="1051560" cy="54864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1" i="0">
                <a:solidFill>
                  <a:srgbClr val="000000"/>
                </a:solidFill>
                <a:latin typeface="Calibri"/>
              </a:rPr>
              <a:t>Lose  −1</a:t>
            </a:r>
          </a:p>
        </p:txBody>
      </p:sp>
      <p:cxnSp>
        <p:nvCxnSpPr>
          <p:cNvPr id="57" name="Connector 56"/>
          <p:cNvCxnSpPr/>
          <p:nvPr/>
        </p:nvCxnSpPr>
        <p:spPr>
          <a:xfrm>
            <a:off x="9166860" y="4251960"/>
            <a:ext cx="0" cy="18288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9235440" y="4233672"/>
            <a:ext cx="365760" cy="201168"/>
          </a:xfrm>
          <a:prstGeom prst="rect">
            <a:avLst/>
          </a:prstGeom>
          <a:noFill/>
        </p:spPr>
        <p:txBody>
          <a:bodyPr wrap="square" anchor="t" lIns="0" rIns="0" tIns="0" bIns="0">
            <a:spAutoFit/>
          </a:bodyPr>
          <a:lstStyle/>
          <a:p>
            <a:pPr algn="l"/>
            <a:r>
              <a:rPr sz="1000" b="0" i="0">
                <a:solidFill>
                  <a:srgbClr val="595959"/>
                </a:solidFill>
                <a:latin typeface="Calibri"/>
              </a:rPr>
              <a:t>no</a:t>
            </a:r>
          </a:p>
        </p:txBody>
      </p:sp>
      <p:sp>
        <p:nvSpPr>
          <p:cNvPr id="59" name="Rectangle 58"/>
          <p:cNvSpPr/>
          <p:nvPr/>
        </p:nvSpPr>
        <p:spPr>
          <a:xfrm>
            <a:off x="8001000" y="4434840"/>
            <a:ext cx="2331720" cy="73152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0" name="Oval 59"/>
          <p:cNvSpPr/>
          <p:nvPr/>
        </p:nvSpPr>
        <p:spPr>
          <a:xfrm>
            <a:off x="8110727" y="4617720"/>
            <a:ext cx="365760" cy="36576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4</a:t>
            </a:r>
          </a:p>
        </p:txBody>
      </p:sp>
      <p:sp>
        <p:nvSpPr>
          <p:cNvPr id="61" name="TextBox 60"/>
          <p:cNvSpPr txBox="1"/>
          <p:nvPr/>
        </p:nvSpPr>
        <p:spPr>
          <a:xfrm>
            <a:off x="8567928" y="4434840"/>
            <a:ext cx="1737360" cy="731520"/>
          </a:xfrm>
          <a:prstGeom prst="rect">
            <a:avLst/>
          </a:prstGeom>
          <a:noFill/>
        </p:spPr>
        <p:txBody>
          <a:bodyPr wrap="square" anchor="ctr" lIns="0" rIns="0" tIns="0" bIns="0">
            <a:spAutoFit/>
          </a:bodyPr>
          <a:lstStyle/>
          <a:p>
            <a:pPr algn="l"/>
            <a:r>
              <a:rPr sz="1300" b="1" i="0">
                <a:solidFill>
                  <a:srgbClr val="1A1A1A"/>
                </a:solidFill>
                <a:latin typeface="Calibri"/>
              </a:rPr>
              <a:t>No legal move?</a:t>
            </a:r>
          </a:p>
        </p:txBody>
      </p:sp>
      <p:cxnSp>
        <p:nvCxnSpPr>
          <p:cNvPr id="62" name="Connector 61"/>
          <p:cNvCxnSpPr/>
          <p:nvPr/>
        </p:nvCxnSpPr>
        <p:spPr>
          <a:xfrm>
            <a:off x="10351008" y="4800600"/>
            <a:ext cx="329184"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10314432" y="4480559"/>
            <a:ext cx="365760" cy="228600"/>
          </a:xfrm>
          <a:prstGeom prst="rect">
            <a:avLst/>
          </a:prstGeom>
          <a:noFill/>
        </p:spPr>
        <p:txBody>
          <a:bodyPr wrap="square" anchor="t" lIns="0" rIns="0" tIns="0" bIns="0">
            <a:spAutoFit/>
          </a:bodyPr>
          <a:lstStyle/>
          <a:p>
            <a:pPr algn="ctr"/>
            <a:r>
              <a:rPr sz="1000" b="0" i="0">
                <a:solidFill>
                  <a:srgbClr val="595959"/>
                </a:solidFill>
                <a:latin typeface="Calibri"/>
              </a:rPr>
              <a:t>yes</a:t>
            </a:r>
          </a:p>
        </p:txBody>
      </p:sp>
      <p:sp>
        <p:nvSpPr>
          <p:cNvPr id="64" name="Rounded Rectangle 63"/>
          <p:cNvSpPr/>
          <p:nvPr/>
        </p:nvSpPr>
        <p:spPr>
          <a:xfrm>
            <a:off x="10698480" y="4526279"/>
            <a:ext cx="1051560" cy="548640"/>
          </a:xfrm>
          <a:prstGeom prst="roundRect">
            <a:avLst>
              <a:gd name="adj" fmla="val 12000"/>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1" i="0">
                <a:solidFill>
                  <a:srgbClr val="FFFFFF"/>
                </a:solidFill>
                <a:latin typeface="Calibri"/>
              </a:rPr>
              <a:t>WIN  +1</a:t>
            </a:r>
          </a:p>
        </p:txBody>
      </p:sp>
      <p:cxnSp>
        <p:nvCxnSpPr>
          <p:cNvPr id="65" name="Connector 64"/>
          <p:cNvCxnSpPr/>
          <p:nvPr/>
        </p:nvCxnSpPr>
        <p:spPr>
          <a:xfrm>
            <a:off x="9166860" y="5166359"/>
            <a:ext cx="0" cy="182881"/>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9235440" y="5148072"/>
            <a:ext cx="365760" cy="201168"/>
          </a:xfrm>
          <a:prstGeom prst="rect">
            <a:avLst/>
          </a:prstGeom>
          <a:noFill/>
        </p:spPr>
        <p:txBody>
          <a:bodyPr wrap="square" anchor="t" lIns="0" rIns="0" tIns="0" bIns="0">
            <a:spAutoFit/>
          </a:bodyPr>
          <a:lstStyle/>
          <a:p>
            <a:pPr algn="l"/>
            <a:r>
              <a:rPr sz="1000" b="0" i="0">
                <a:solidFill>
                  <a:srgbClr val="595959"/>
                </a:solidFill>
                <a:latin typeface="Calibri"/>
              </a:rPr>
              <a:t>no</a:t>
            </a:r>
          </a:p>
        </p:txBody>
      </p:sp>
      <p:sp>
        <p:nvSpPr>
          <p:cNvPr id="67" name="Rectangle 66"/>
          <p:cNvSpPr/>
          <p:nvPr/>
        </p:nvSpPr>
        <p:spPr>
          <a:xfrm>
            <a:off x="8001000" y="5349240"/>
            <a:ext cx="2331720" cy="73152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8" name="Oval 67"/>
          <p:cNvSpPr/>
          <p:nvPr/>
        </p:nvSpPr>
        <p:spPr>
          <a:xfrm>
            <a:off x="8110727" y="5532120"/>
            <a:ext cx="365760" cy="36576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5</a:t>
            </a:r>
          </a:p>
        </p:txBody>
      </p:sp>
      <p:sp>
        <p:nvSpPr>
          <p:cNvPr id="69" name="TextBox 68"/>
          <p:cNvSpPr txBox="1"/>
          <p:nvPr/>
        </p:nvSpPr>
        <p:spPr>
          <a:xfrm>
            <a:off x="8567928" y="5349240"/>
            <a:ext cx="1737360" cy="731520"/>
          </a:xfrm>
          <a:prstGeom prst="rect">
            <a:avLst/>
          </a:prstGeom>
          <a:noFill/>
        </p:spPr>
        <p:txBody>
          <a:bodyPr wrap="square" anchor="ctr" lIns="0" rIns="0" tIns="0" bIns="0">
            <a:spAutoFit/>
          </a:bodyPr>
          <a:lstStyle/>
          <a:p>
            <a:pPr algn="l"/>
            <a:r>
              <a:rPr sz="1300" b="1" i="0">
                <a:solidFill>
                  <a:srgbClr val="1A1A1A"/>
                </a:solidFill>
                <a:latin typeface="Calibri"/>
              </a:rPr>
              <a:t>Ply ≥ 300?</a:t>
            </a:r>
          </a:p>
        </p:txBody>
      </p:sp>
      <p:cxnSp>
        <p:nvCxnSpPr>
          <p:cNvPr id="70" name="Connector 69"/>
          <p:cNvCxnSpPr/>
          <p:nvPr/>
        </p:nvCxnSpPr>
        <p:spPr>
          <a:xfrm>
            <a:off x="10351008" y="5715000"/>
            <a:ext cx="329184"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10314432" y="5394959"/>
            <a:ext cx="365760" cy="228600"/>
          </a:xfrm>
          <a:prstGeom prst="rect">
            <a:avLst/>
          </a:prstGeom>
          <a:noFill/>
        </p:spPr>
        <p:txBody>
          <a:bodyPr wrap="square" anchor="t" lIns="0" rIns="0" tIns="0" bIns="0">
            <a:spAutoFit/>
          </a:bodyPr>
          <a:lstStyle/>
          <a:p>
            <a:pPr algn="ctr"/>
            <a:r>
              <a:rPr sz="1000" b="0" i="0">
                <a:solidFill>
                  <a:srgbClr val="595959"/>
                </a:solidFill>
                <a:latin typeface="Calibri"/>
              </a:rPr>
              <a:t>yes</a:t>
            </a:r>
          </a:p>
        </p:txBody>
      </p:sp>
      <p:sp>
        <p:nvSpPr>
          <p:cNvPr id="72" name="Rounded Rectangle 71"/>
          <p:cNvSpPr/>
          <p:nvPr/>
        </p:nvSpPr>
        <p:spPr>
          <a:xfrm>
            <a:off x="10698480" y="5440679"/>
            <a:ext cx="1051560" cy="54864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1" i="0">
                <a:solidFill>
                  <a:srgbClr val="000000"/>
                </a:solidFill>
                <a:latin typeface="Calibri"/>
              </a:rPr>
              <a:t>Score on material</a:t>
            </a:r>
          </a:p>
        </p:txBody>
      </p:sp>
      <p:sp>
        <p:nvSpPr>
          <p:cNvPr id="73" name="TextBox 72"/>
          <p:cNvSpPr txBox="1"/>
          <p:nvPr/>
        </p:nvSpPr>
        <p:spPr>
          <a:xfrm>
            <a:off x="8001000" y="6108192"/>
            <a:ext cx="3749039" cy="365760"/>
          </a:xfrm>
          <a:prstGeom prst="rect">
            <a:avLst/>
          </a:prstGeom>
          <a:noFill/>
        </p:spPr>
        <p:txBody>
          <a:bodyPr wrap="square" anchor="t" lIns="0" rIns="0" tIns="0" bIns="0">
            <a:spAutoFit/>
          </a:bodyPr>
          <a:lstStyle/>
          <a:p>
            <a:pPr algn="l"/>
            <a:r>
              <a:rPr sz="1000" b="0" i="1">
                <a:solidFill>
                  <a:srgbClr val="595959"/>
                </a:solidFill>
                <a:latin typeface="Calibri"/>
              </a:rPr>
              <a:t>z is scored for the player to move. Stalemate gives +1, the opposite of every reference AlphaZero, so a dedicated unit test guards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594360"/>
          </a:xfrm>
          <a:prstGeom prst="rect">
            <a:avLst/>
          </a:prstGeom>
          <a:noFill/>
        </p:spPr>
        <p:txBody>
          <a:bodyPr wrap="square" anchor="t" lIns="0" rIns="0" tIns="0" bIns="0">
            <a:spAutoFit/>
          </a:bodyPr>
          <a:lstStyle/>
          <a:p>
            <a:pPr algn="l"/>
            <a:r>
              <a:rPr sz="3400" b="1" i="0">
                <a:solidFill>
                  <a:srgbClr val="000000"/>
                </a:solidFill>
                <a:latin typeface="Cambria"/>
              </a:rPr>
              <a:t>System design: the self-play learning loop</a:t>
            </a:r>
          </a:p>
        </p:txBody>
      </p:sp>
      <p:sp>
        <p:nvSpPr>
          <p:cNvPr id="3" name="TextBox 2"/>
          <p:cNvSpPr txBox="1"/>
          <p:nvPr/>
        </p:nvSpPr>
        <p:spPr>
          <a:xfrm>
            <a:off x="457200" y="841248"/>
            <a:ext cx="11247120" cy="292608"/>
          </a:xfrm>
          <a:prstGeom prst="rect">
            <a:avLst/>
          </a:prstGeom>
          <a:noFill/>
        </p:spPr>
        <p:txBody>
          <a:bodyPr wrap="square" anchor="t" lIns="0" rIns="0" tIns="0" bIns="0">
            <a:spAutoFit/>
          </a:bodyPr>
          <a:lstStyle/>
          <a:p>
            <a:pPr algn="l"/>
            <a:r>
              <a:rPr sz="1400" b="0" i="1">
                <a:solidFill>
                  <a:srgbClr val="595959"/>
                </a:solidFill>
                <a:latin typeface="Calibri"/>
              </a:rPr>
              <a:t>AlphaZero: search improves the policy, and the improved policy is distilled back into the network</a:t>
            </a:r>
          </a:p>
        </p:txBody>
      </p:sp>
      <p:sp>
        <p:nvSpPr>
          <p:cNvPr id="4" name="TextBox 3"/>
          <p:cNvSpPr txBox="1"/>
          <p:nvPr/>
        </p:nvSpPr>
        <p:spPr>
          <a:xfrm>
            <a:off x="457200" y="6473952"/>
            <a:ext cx="5486400" cy="256032"/>
          </a:xfrm>
          <a:prstGeom prst="rect">
            <a:avLst/>
          </a:prstGeom>
          <a:noFill/>
        </p:spPr>
        <p:txBody>
          <a:bodyPr wrap="square" anchor="t" lIns="0" rIns="0" tIns="0" bIns="0">
            <a:spAutoFit/>
          </a:bodyPr>
          <a:lstStyle/>
          <a:p>
            <a:pPr algn="l"/>
            <a:r>
              <a:rPr sz="1000" b="0" i="0">
                <a:solidFill>
                  <a:srgbClr val="595959"/>
                </a:solidFill>
                <a:latin typeface="Calibri"/>
              </a:rPr>
              <a:t>ChaturangaZero  |  3 / 4</a:t>
            </a:r>
          </a:p>
        </p:txBody>
      </p:sp>
      <p:sp>
        <p:nvSpPr>
          <p:cNvPr id="5" name="Rectangle 4"/>
          <p:cNvSpPr/>
          <p:nvPr/>
        </p:nvSpPr>
        <p:spPr>
          <a:xfrm>
            <a:off x="457200" y="1325880"/>
            <a:ext cx="1920240" cy="1188720"/>
          </a:xfrm>
          <a:prstGeom prst="rect">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r>
              <a:rPr sz="1500" b="1" i="0">
                <a:solidFill>
                  <a:srgbClr val="FFFFFF"/>
                </a:solidFill>
                <a:latin typeface="Calibri"/>
              </a:rPr>
              <a:t>Self-play</a:t>
            </a:r>
          </a:p>
          <a:p>
            <a:pPr algn="ctr"/>
            <a:r>
              <a:rPr sz="1100" b="0" i="0">
                <a:solidFill>
                  <a:srgbClr val="D9D9D9"/>
                </a:solidFill>
                <a:latin typeface="Calibri"/>
              </a:rPr>
              <a:t>MCTS + PUCT, 100 sims/move, Dirichlet root noise, 128 games in parallel</a:t>
            </a:r>
          </a:p>
        </p:txBody>
      </p:sp>
      <p:cxnSp>
        <p:nvCxnSpPr>
          <p:cNvPr id="6" name="Connector 5"/>
          <p:cNvCxnSpPr/>
          <p:nvPr/>
        </p:nvCxnSpPr>
        <p:spPr>
          <a:xfrm>
            <a:off x="2395728" y="1920240"/>
            <a:ext cx="374904"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2788920" y="1325880"/>
            <a:ext cx="1920240" cy="118872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r>
              <a:rPr sz="1500" b="1" i="0">
                <a:solidFill>
                  <a:srgbClr val="000000"/>
                </a:solidFill>
                <a:latin typeface="Calibri"/>
              </a:rPr>
              <a:t>Training data</a:t>
            </a:r>
          </a:p>
          <a:p>
            <a:pPr algn="ctr"/>
            <a:r>
              <a:rPr sz="1100" b="0" i="0">
                <a:solidFill>
                  <a:srgbClr val="595959"/>
                </a:solidFill>
                <a:latin typeface="Calibri"/>
              </a:rPr>
              <a:t>(state, π, z) for every move; π = root visit counts</a:t>
            </a:r>
          </a:p>
        </p:txBody>
      </p:sp>
      <p:cxnSp>
        <p:nvCxnSpPr>
          <p:cNvPr id="8" name="Connector 7"/>
          <p:cNvCxnSpPr/>
          <p:nvPr/>
        </p:nvCxnSpPr>
        <p:spPr>
          <a:xfrm>
            <a:off x="4727448" y="1920240"/>
            <a:ext cx="374904"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120640" y="1325880"/>
            <a:ext cx="1920240" cy="1188720"/>
          </a:xfrm>
          <a:prstGeom prst="rect">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r>
              <a:rPr sz="1500" b="1" i="0">
                <a:solidFill>
                  <a:srgbClr val="FFFFFF"/>
                </a:solidFill>
                <a:latin typeface="Calibri"/>
              </a:rPr>
              <a:t>Replay buffer</a:t>
            </a:r>
          </a:p>
          <a:p>
            <a:pPr algn="ctr"/>
            <a:r>
              <a:rPr sz="1100" b="0" i="0">
                <a:solidFill>
                  <a:srgbClr val="D9D9D9"/>
                </a:solidFill>
                <a:latin typeface="Calibri"/>
              </a:rPr>
              <a:t>1M positions, uniform sampling; left–right mirror doubles data</a:t>
            </a:r>
          </a:p>
        </p:txBody>
      </p:sp>
      <p:cxnSp>
        <p:nvCxnSpPr>
          <p:cNvPr id="10" name="Connector 9"/>
          <p:cNvCxnSpPr/>
          <p:nvPr/>
        </p:nvCxnSpPr>
        <p:spPr>
          <a:xfrm>
            <a:off x="7059168" y="1920240"/>
            <a:ext cx="374904"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452360" y="1325880"/>
            <a:ext cx="1920240" cy="118872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r>
              <a:rPr sz="1500" b="1" i="0">
                <a:solidFill>
                  <a:srgbClr val="000000"/>
                </a:solidFill>
                <a:latin typeface="Calibri"/>
              </a:rPr>
              <a:t>Train network</a:t>
            </a:r>
          </a:p>
          <a:p>
            <a:pPr algn="ctr"/>
            <a:r>
              <a:rPr sz="1100" b="0" i="0">
                <a:solidFill>
                  <a:srgbClr val="595959"/>
                </a:solidFill>
                <a:latin typeface="Calibri"/>
              </a:rPr>
              <a:t>Adam, 2,000 steps / iteration
ℓ = (z − v)² − πᵀ log p + c‖θ‖²</a:t>
            </a:r>
          </a:p>
        </p:txBody>
      </p:sp>
      <p:cxnSp>
        <p:nvCxnSpPr>
          <p:cNvPr id="12" name="Connector 11"/>
          <p:cNvCxnSpPr/>
          <p:nvPr/>
        </p:nvCxnSpPr>
        <p:spPr>
          <a:xfrm>
            <a:off x="9390888" y="1920240"/>
            <a:ext cx="374904"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784080" y="1325880"/>
            <a:ext cx="1920240" cy="1188720"/>
          </a:xfrm>
          <a:prstGeom prst="rect">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r>
              <a:rPr sz="1500" b="1" i="0">
                <a:solidFill>
                  <a:srgbClr val="FFFFFF"/>
                </a:solidFill>
                <a:latin typeface="Calibri"/>
              </a:rPr>
              <a:t>Arena gate</a:t>
            </a:r>
          </a:p>
          <a:p>
            <a:pPr algn="ctr"/>
            <a:r>
              <a:rPr sz="1100" b="0" i="0">
                <a:solidFill>
                  <a:srgbClr val="D9D9D9"/>
                </a:solidFill>
                <a:latin typeface="Calibri"/>
              </a:rPr>
              <a:t>Challenger vs incumbent over 60 games; promote at ≥ 55% wins</a:t>
            </a:r>
          </a:p>
        </p:txBody>
      </p:sp>
      <p:cxnSp>
        <p:nvCxnSpPr>
          <p:cNvPr id="14" name="Connector 13"/>
          <p:cNvCxnSpPr/>
          <p:nvPr/>
        </p:nvCxnSpPr>
        <p:spPr>
          <a:xfrm>
            <a:off x="10744200" y="2514600"/>
            <a:ext cx="0" cy="36576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1417320" y="2880360"/>
            <a:ext cx="9326880" cy="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417320" y="2532888"/>
            <a:ext cx="0" cy="347472"/>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023360" y="2724912"/>
            <a:ext cx="411480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0" i="1">
                <a:solidFill>
                  <a:srgbClr val="595959"/>
                </a:solidFill>
                <a:latin typeface="Calibri"/>
              </a:rPr>
              <a:t>promoted network plays the next 1,000 games</a:t>
            </a:r>
          </a:p>
        </p:txBody>
      </p:sp>
      <p:sp>
        <p:nvSpPr>
          <p:cNvPr id="18" name="Rectangle 17"/>
          <p:cNvSpPr/>
          <p:nvPr/>
        </p:nvSpPr>
        <p:spPr>
          <a:xfrm>
            <a:off x="457200" y="3465576"/>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Rectangle 18"/>
          <p:cNvSpPr/>
          <p:nvPr/>
        </p:nvSpPr>
        <p:spPr>
          <a:xfrm>
            <a:off x="457200" y="3566160"/>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Rectangle 19"/>
          <p:cNvSpPr/>
          <p:nvPr/>
        </p:nvSpPr>
        <p:spPr>
          <a:xfrm>
            <a:off x="557784" y="3465576"/>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1" name="Rectangle 20"/>
          <p:cNvSpPr/>
          <p:nvPr/>
        </p:nvSpPr>
        <p:spPr>
          <a:xfrm>
            <a:off x="557784" y="3566160"/>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2" name="TextBox 21"/>
          <p:cNvSpPr txBox="1"/>
          <p:nvPr/>
        </p:nvSpPr>
        <p:spPr>
          <a:xfrm>
            <a:off x="749808" y="3429000"/>
            <a:ext cx="6931152" cy="274320"/>
          </a:xfrm>
          <a:prstGeom prst="rect">
            <a:avLst/>
          </a:prstGeom>
          <a:noFill/>
        </p:spPr>
        <p:txBody>
          <a:bodyPr wrap="square" anchor="t" lIns="0" rIns="0" tIns="0" bIns="0">
            <a:spAutoFit/>
          </a:bodyPr>
          <a:lstStyle/>
          <a:p>
            <a:pPr algn="l"/>
            <a:r>
              <a:rPr sz="1200" b="1" i="0">
                <a:solidFill>
                  <a:srgbClr val="1A1A1A"/>
                </a:solidFill>
                <a:latin typeface="Calibri"/>
              </a:rPr>
              <a:t>DUAL-HEAD RESIDUAL NETWORK  ·  ~2.5M PARAMETERS</a:t>
            </a:r>
          </a:p>
        </p:txBody>
      </p:sp>
      <p:sp>
        <p:nvSpPr>
          <p:cNvPr id="23" name="Rectangle 22"/>
          <p:cNvSpPr/>
          <p:nvPr/>
        </p:nvSpPr>
        <p:spPr>
          <a:xfrm>
            <a:off x="457200" y="4434840"/>
            <a:ext cx="1188720" cy="9144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1A1A1A"/>
                </a:solidFill>
                <a:latin typeface="Calibri"/>
              </a:rPr>
              <a:t>Input</a:t>
            </a:r>
          </a:p>
          <a:p>
            <a:pPr algn="ctr"/>
            <a:r>
              <a:rPr sz="1100" b="0" i="0">
                <a:solidFill>
                  <a:srgbClr val="1A1A1A"/>
                </a:solidFill>
                <a:latin typeface="Calibri"/>
              </a:rPr>
              <a:t>14 × 8 × 8</a:t>
            </a:r>
          </a:p>
        </p:txBody>
      </p:sp>
      <p:cxnSp>
        <p:nvCxnSpPr>
          <p:cNvPr id="24" name="Connector 23"/>
          <p:cNvCxnSpPr/>
          <p:nvPr/>
        </p:nvCxnSpPr>
        <p:spPr>
          <a:xfrm>
            <a:off x="1664208" y="4892040"/>
            <a:ext cx="329184"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2011680" y="4434840"/>
            <a:ext cx="1188720" cy="9144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1A1A1A"/>
                </a:solidFill>
                <a:latin typeface="Calibri"/>
              </a:rPr>
              <a:t>Conv 3×3</a:t>
            </a:r>
          </a:p>
          <a:p>
            <a:pPr algn="ctr"/>
            <a:r>
              <a:rPr sz="1100" b="0" i="0">
                <a:solidFill>
                  <a:srgbClr val="1A1A1A"/>
                </a:solidFill>
                <a:latin typeface="Calibri"/>
              </a:rPr>
              <a:t>128 ch, BN, ReLU</a:t>
            </a:r>
          </a:p>
        </p:txBody>
      </p:sp>
      <p:cxnSp>
        <p:nvCxnSpPr>
          <p:cNvPr id="26" name="Connector 25"/>
          <p:cNvCxnSpPr/>
          <p:nvPr/>
        </p:nvCxnSpPr>
        <p:spPr>
          <a:xfrm>
            <a:off x="3218688" y="4892040"/>
            <a:ext cx="329184"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3712463" y="4288536"/>
            <a:ext cx="1554480" cy="914400"/>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8" name="Rectangle 27"/>
          <p:cNvSpPr/>
          <p:nvPr/>
        </p:nvSpPr>
        <p:spPr>
          <a:xfrm>
            <a:off x="3639312" y="4361688"/>
            <a:ext cx="1554480" cy="914400"/>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9" name="Rectangle 28"/>
          <p:cNvSpPr/>
          <p:nvPr/>
        </p:nvSpPr>
        <p:spPr>
          <a:xfrm>
            <a:off x="3566160" y="4434840"/>
            <a:ext cx="1554480" cy="914400"/>
          </a:xfrm>
          <a:prstGeom prst="rect">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FFFFFF"/>
                </a:solidFill>
                <a:latin typeface="Calibri"/>
              </a:rPr>
              <a:t>8 × residual</a:t>
            </a:r>
          </a:p>
          <a:p>
            <a:pPr algn="ctr"/>
            <a:r>
              <a:rPr sz="1100" b="0" i="0">
                <a:solidFill>
                  <a:srgbClr val="D9D9D9"/>
                </a:solidFill>
                <a:latin typeface="Calibri"/>
              </a:rPr>
              <a:t>blocks, 128 ch</a:t>
            </a:r>
          </a:p>
        </p:txBody>
      </p:sp>
      <p:sp>
        <p:nvSpPr>
          <p:cNvPr id="30" name="Rectangle 29"/>
          <p:cNvSpPr/>
          <p:nvPr/>
        </p:nvSpPr>
        <p:spPr>
          <a:xfrm>
            <a:off x="5577840" y="3840480"/>
            <a:ext cx="2103120" cy="86868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1A1A1A"/>
                </a:solidFill>
                <a:latin typeface="Calibri"/>
              </a:rPr>
              <a:t>Policy head</a:t>
            </a:r>
          </a:p>
          <a:p>
            <a:pPr algn="ctr"/>
            <a:r>
              <a:rPr sz="1100" b="0" i="0">
                <a:solidFill>
                  <a:srgbClr val="1A1A1A"/>
                </a:solidFill>
                <a:latin typeface="Calibri"/>
              </a:rPr>
              <a:t>1×1 conv → 4,096 masked logits</a:t>
            </a:r>
          </a:p>
        </p:txBody>
      </p:sp>
      <p:sp>
        <p:nvSpPr>
          <p:cNvPr id="31" name="Rectangle 30"/>
          <p:cNvSpPr/>
          <p:nvPr/>
        </p:nvSpPr>
        <p:spPr>
          <a:xfrm>
            <a:off x="5577840" y="5074920"/>
            <a:ext cx="2103120" cy="86868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1A1A1A"/>
                </a:solidFill>
                <a:latin typeface="Calibri"/>
              </a:rPr>
              <a:t>Value head</a:t>
            </a:r>
          </a:p>
          <a:p>
            <a:pPr algn="ctr"/>
            <a:r>
              <a:rPr sz="1100" b="0" i="0">
                <a:solidFill>
                  <a:srgbClr val="1A1A1A"/>
                </a:solidFill>
                <a:latin typeface="Calibri"/>
              </a:rPr>
              <a:t>FC → tanh → v ∈ [−1, +1]</a:t>
            </a:r>
          </a:p>
        </p:txBody>
      </p:sp>
      <p:cxnSp>
        <p:nvCxnSpPr>
          <p:cNvPr id="32" name="Connector 31"/>
          <p:cNvCxnSpPr/>
          <p:nvPr/>
        </p:nvCxnSpPr>
        <p:spPr>
          <a:xfrm flipV="1">
            <a:off x="5138928" y="4270248"/>
            <a:ext cx="420624" cy="621792"/>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138928" y="4892040"/>
            <a:ext cx="420624" cy="612648"/>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57200" y="5623560"/>
            <a:ext cx="4937760" cy="640080"/>
          </a:xfrm>
          <a:prstGeom prst="rect">
            <a:avLst/>
          </a:prstGeom>
          <a:noFill/>
        </p:spPr>
        <p:txBody>
          <a:bodyPr wrap="square" anchor="t" lIns="0" rIns="0" tIns="0" bIns="0">
            <a:spAutoFit/>
          </a:bodyPr>
          <a:lstStyle/>
          <a:p>
            <a:pPr algn="l"/>
            <a:r>
              <a:rPr sz="1100" b="1" i="0">
                <a:solidFill>
                  <a:srgbClr val="595959"/>
                </a:solidFill>
                <a:latin typeface="Calibri"/>
              </a:rPr>
              <a:t>Key detail: </a:t>
            </a:r>
            <a:r>
              <a:rPr sz="1100" b="0" i="0">
                <a:solidFill>
                  <a:srgbClr val="595959"/>
                </a:solidFill>
                <a:latin typeface="Calibri"/>
              </a:rPr>
              <a:t>the 1×1-conv policy head yields 4,096 outputs from ~8k parameters, instead of a 34M-parameter dense layer that would overfit</a:t>
            </a:r>
          </a:p>
        </p:txBody>
      </p:sp>
      <p:sp>
        <p:nvSpPr>
          <p:cNvPr id="35" name="Rectangle 34"/>
          <p:cNvSpPr/>
          <p:nvPr/>
        </p:nvSpPr>
        <p:spPr>
          <a:xfrm>
            <a:off x="8183879" y="3465576"/>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6" name="Rectangle 35"/>
          <p:cNvSpPr/>
          <p:nvPr/>
        </p:nvSpPr>
        <p:spPr>
          <a:xfrm>
            <a:off x="8183879" y="3566160"/>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7" name="Rectangle 36"/>
          <p:cNvSpPr/>
          <p:nvPr/>
        </p:nvSpPr>
        <p:spPr>
          <a:xfrm>
            <a:off x="8284463" y="3465576"/>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8" name="Rectangle 37"/>
          <p:cNvSpPr/>
          <p:nvPr/>
        </p:nvSpPr>
        <p:spPr>
          <a:xfrm>
            <a:off x="8284463" y="3566160"/>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9" name="TextBox 38"/>
          <p:cNvSpPr txBox="1"/>
          <p:nvPr/>
        </p:nvSpPr>
        <p:spPr>
          <a:xfrm>
            <a:off x="8476488" y="3429000"/>
            <a:ext cx="3273552" cy="274320"/>
          </a:xfrm>
          <a:prstGeom prst="rect">
            <a:avLst/>
          </a:prstGeom>
          <a:noFill/>
        </p:spPr>
        <p:txBody>
          <a:bodyPr wrap="square" anchor="t" lIns="0" rIns="0" tIns="0" bIns="0">
            <a:spAutoFit/>
          </a:bodyPr>
          <a:lstStyle/>
          <a:p>
            <a:pPr algn="l"/>
            <a:r>
              <a:rPr sz="1200" b="1" i="0">
                <a:solidFill>
                  <a:srgbClr val="1A1A1A"/>
                </a:solidFill>
                <a:latin typeface="Calibri"/>
              </a:rPr>
              <a:t>SELF-PLAY THROUGHPUT</a:t>
            </a:r>
          </a:p>
        </p:txBody>
      </p:sp>
      <p:graphicFrame>
        <p:nvGraphicFramePr>
          <p:cNvPr id="40" name="Chart 39"/>
          <p:cNvGraphicFramePr>
            <a:graphicFrameLocks noGrp="1"/>
          </p:cNvGraphicFramePr>
          <p:nvPr/>
        </p:nvGraphicFramePr>
        <p:xfrm>
          <a:off x="8183879" y="3749039"/>
          <a:ext cx="2194560" cy="2194560"/>
        </p:xfrm>
        <a:graphic>
          <a:graphicData uri="http://schemas.openxmlformats.org/drawingml/2006/chart">
            <c:chart xmlns:c="http://schemas.openxmlformats.org/drawingml/2006/chart" r:id="rId2"/>
          </a:graphicData>
        </a:graphic>
      </p:graphicFrame>
      <p:sp>
        <p:nvSpPr>
          <p:cNvPr id="41" name="TextBox 40"/>
          <p:cNvSpPr txBox="1"/>
          <p:nvPr/>
        </p:nvSpPr>
        <p:spPr>
          <a:xfrm>
            <a:off x="10469880" y="3977639"/>
            <a:ext cx="1280160" cy="731520"/>
          </a:xfrm>
          <a:prstGeom prst="rect">
            <a:avLst/>
          </a:prstGeom>
          <a:noFill/>
        </p:spPr>
        <p:txBody>
          <a:bodyPr wrap="square" anchor="t" lIns="0" rIns="0" tIns="0" bIns="0">
            <a:spAutoFit/>
          </a:bodyPr>
          <a:lstStyle/>
          <a:p>
            <a:pPr algn="l"/>
            <a:r>
              <a:rPr sz="3600" b="1" i="0">
                <a:solidFill>
                  <a:srgbClr val="000000"/>
                </a:solidFill>
                <a:latin typeface="Cambria"/>
              </a:rPr>
              <a:t>≈35×</a:t>
            </a:r>
          </a:p>
        </p:txBody>
      </p:sp>
      <p:sp>
        <p:nvSpPr>
          <p:cNvPr id="42" name="TextBox 41"/>
          <p:cNvSpPr txBox="1"/>
          <p:nvPr/>
        </p:nvSpPr>
        <p:spPr>
          <a:xfrm>
            <a:off x="10469880" y="4709160"/>
            <a:ext cx="1325880" cy="1280160"/>
          </a:xfrm>
          <a:prstGeom prst="rect">
            <a:avLst/>
          </a:prstGeom>
          <a:noFill/>
        </p:spPr>
        <p:txBody>
          <a:bodyPr wrap="square" anchor="t" lIns="0" rIns="0" tIns="0" bIns="0">
            <a:spAutoFit/>
          </a:bodyPr>
          <a:lstStyle/>
          <a:p>
            <a:pPr algn="l"/>
            <a:r>
              <a:rPr sz="1100" b="0" i="0">
                <a:solidFill>
                  <a:srgbClr val="595959"/>
                </a:solidFill>
                <a:latin typeface="Calibri"/>
              </a:rPr>
              <a:t>games/hour on the same T4, via 128 games batched + AMP</a:t>
            </a:r>
          </a:p>
        </p:txBody>
      </p:sp>
      <p:sp>
        <p:nvSpPr>
          <p:cNvPr id="43" name="TextBox 42"/>
          <p:cNvSpPr txBox="1"/>
          <p:nvPr/>
        </p:nvSpPr>
        <p:spPr>
          <a:xfrm>
            <a:off x="8183879" y="5943600"/>
            <a:ext cx="3566160" cy="457200"/>
          </a:xfrm>
          <a:prstGeom prst="rect">
            <a:avLst/>
          </a:prstGeom>
          <a:noFill/>
        </p:spPr>
        <p:txBody>
          <a:bodyPr wrap="square" anchor="t" lIns="0" rIns="0" tIns="0" bIns="0">
            <a:spAutoFit/>
          </a:bodyPr>
          <a:lstStyle/>
          <a:p>
            <a:pPr algn="l"/>
            <a:r>
              <a:rPr sz="1200" b="1" i="0">
                <a:solidFill>
                  <a:srgbClr val="1A1A1A"/>
                </a:solidFill>
                <a:latin typeface="Calibri"/>
              </a:rPr>
              <a:t>600 GPU-h </a:t>
            </a:r>
            <a:r>
              <a:rPr sz="1200" b="0" i="0">
                <a:solidFill>
                  <a:srgbClr val="1A1A1A"/>
                </a:solidFill>
                <a:latin typeface="Calibri"/>
              </a:rPr>
              <a:t>on GCP T4 spot → 250k–400k games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594360"/>
          </a:xfrm>
          <a:prstGeom prst="rect">
            <a:avLst/>
          </a:prstGeom>
          <a:noFill/>
        </p:spPr>
        <p:txBody>
          <a:bodyPr wrap="square" anchor="t" lIns="0" rIns="0" tIns="0" bIns="0">
            <a:spAutoFit/>
          </a:bodyPr>
          <a:lstStyle/>
          <a:p>
            <a:pPr algn="l"/>
            <a:r>
              <a:rPr sz="3400" b="1" i="0">
                <a:solidFill>
                  <a:srgbClr val="000000"/>
                </a:solidFill>
                <a:latin typeface="Cambria"/>
              </a:rPr>
              <a:t>Roadmap, verification and risks</a:t>
            </a:r>
          </a:p>
        </p:txBody>
      </p:sp>
      <p:sp>
        <p:nvSpPr>
          <p:cNvPr id="3" name="TextBox 2"/>
          <p:cNvSpPr txBox="1"/>
          <p:nvPr/>
        </p:nvSpPr>
        <p:spPr>
          <a:xfrm>
            <a:off x="457200" y="841248"/>
            <a:ext cx="11247120" cy="292608"/>
          </a:xfrm>
          <a:prstGeom prst="rect">
            <a:avLst/>
          </a:prstGeom>
          <a:noFill/>
        </p:spPr>
        <p:txBody>
          <a:bodyPr wrap="square" anchor="t" lIns="0" rIns="0" tIns="0" bIns="0">
            <a:spAutoFit/>
          </a:bodyPr>
          <a:lstStyle/>
          <a:p>
            <a:pPr algn="l"/>
            <a:r>
              <a:rPr sz="1400" b="0" i="1">
                <a:solidFill>
                  <a:srgbClr val="595959"/>
                </a:solidFill>
                <a:latin typeface="Calibri"/>
              </a:rPr>
              <a:t>Target: a rising Elo curve over ≥ 30 promoted checkpoints and wins against a 3-ply alpha-beta baseline</a:t>
            </a:r>
          </a:p>
        </p:txBody>
      </p:sp>
      <p:sp>
        <p:nvSpPr>
          <p:cNvPr id="4" name="TextBox 3"/>
          <p:cNvSpPr txBox="1"/>
          <p:nvPr/>
        </p:nvSpPr>
        <p:spPr>
          <a:xfrm>
            <a:off x="457200" y="6473952"/>
            <a:ext cx="5486400" cy="256032"/>
          </a:xfrm>
          <a:prstGeom prst="rect">
            <a:avLst/>
          </a:prstGeom>
          <a:noFill/>
        </p:spPr>
        <p:txBody>
          <a:bodyPr wrap="square" anchor="t" lIns="0" rIns="0" tIns="0" bIns="0">
            <a:spAutoFit/>
          </a:bodyPr>
          <a:lstStyle/>
          <a:p>
            <a:pPr algn="l"/>
            <a:r>
              <a:rPr sz="1000" b="0" i="0">
                <a:solidFill>
                  <a:srgbClr val="595959"/>
                </a:solidFill>
                <a:latin typeface="Calibri"/>
              </a:rPr>
              <a:t>ChaturangaZero  |  4 / 4</a:t>
            </a:r>
          </a:p>
        </p:txBody>
      </p:sp>
      <p:sp>
        <p:nvSpPr>
          <p:cNvPr id="5" name="Rectangle 4"/>
          <p:cNvSpPr/>
          <p:nvPr/>
        </p:nvSpPr>
        <p:spPr>
          <a:xfrm>
            <a:off x="3200400" y="1554480"/>
            <a:ext cx="534352" cy="2340864"/>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 name="TextBox 5"/>
          <p:cNvSpPr txBox="1"/>
          <p:nvPr/>
        </p:nvSpPr>
        <p:spPr>
          <a:xfrm>
            <a:off x="3200400" y="1298448"/>
            <a:ext cx="534352" cy="228600"/>
          </a:xfrm>
          <a:prstGeom prst="rect">
            <a:avLst/>
          </a:prstGeom>
          <a:noFill/>
        </p:spPr>
        <p:txBody>
          <a:bodyPr wrap="square" anchor="t" lIns="0" rIns="0" tIns="0" bIns="0">
            <a:spAutoFit/>
          </a:bodyPr>
          <a:lstStyle/>
          <a:p>
            <a:pPr algn="ctr"/>
            <a:r>
              <a:rPr sz="1000" b="0" i="0">
                <a:solidFill>
                  <a:srgbClr val="595959"/>
                </a:solidFill>
                <a:latin typeface="Calibri"/>
              </a:rPr>
              <a:t>1</a:t>
            </a:r>
          </a:p>
        </p:txBody>
      </p:sp>
      <p:sp>
        <p:nvSpPr>
          <p:cNvPr id="7" name="TextBox 6"/>
          <p:cNvSpPr txBox="1"/>
          <p:nvPr/>
        </p:nvSpPr>
        <p:spPr>
          <a:xfrm>
            <a:off x="3734752" y="1298448"/>
            <a:ext cx="534352" cy="228600"/>
          </a:xfrm>
          <a:prstGeom prst="rect">
            <a:avLst/>
          </a:prstGeom>
          <a:noFill/>
        </p:spPr>
        <p:txBody>
          <a:bodyPr wrap="square" anchor="t" lIns="0" rIns="0" tIns="0" bIns="0">
            <a:spAutoFit/>
          </a:bodyPr>
          <a:lstStyle/>
          <a:p>
            <a:pPr algn="ctr"/>
            <a:r>
              <a:rPr sz="1000" b="0" i="0">
                <a:solidFill>
                  <a:srgbClr val="595959"/>
                </a:solidFill>
                <a:latin typeface="Calibri"/>
              </a:rPr>
              <a:t>2</a:t>
            </a:r>
          </a:p>
        </p:txBody>
      </p:sp>
      <p:sp>
        <p:nvSpPr>
          <p:cNvPr id="8" name="Rectangle 7"/>
          <p:cNvSpPr/>
          <p:nvPr/>
        </p:nvSpPr>
        <p:spPr>
          <a:xfrm>
            <a:off x="4269105" y="1554480"/>
            <a:ext cx="534352" cy="2340864"/>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TextBox 8"/>
          <p:cNvSpPr txBox="1"/>
          <p:nvPr/>
        </p:nvSpPr>
        <p:spPr>
          <a:xfrm>
            <a:off x="4269105" y="1298448"/>
            <a:ext cx="534352" cy="228600"/>
          </a:xfrm>
          <a:prstGeom prst="rect">
            <a:avLst/>
          </a:prstGeom>
          <a:noFill/>
        </p:spPr>
        <p:txBody>
          <a:bodyPr wrap="square" anchor="t" lIns="0" rIns="0" tIns="0" bIns="0">
            <a:spAutoFit/>
          </a:bodyPr>
          <a:lstStyle/>
          <a:p>
            <a:pPr algn="ctr"/>
            <a:r>
              <a:rPr sz="1000" b="0" i="0">
                <a:solidFill>
                  <a:srgbClr val="595959"/>
                </a:solidFill>
                <a:latin typeface="Calibri"/>
              </a:rPr>
              <a:t>3</a:t>
            </a:r>
          </a:p>
        </p:txBody>
      </p:sp>
      <p:sp>
        <p:nvSpPr>
          <p:cNvPr id="10" name="TextBox 9"/>
          <p:cNvSpPr txBox="1"/>
          <p:nvPr/>
        </p:nvSpPr>
        <p:spPr>
          <a:xfrm>
            <a:off x="4803457" y="1298448"/>
            <a:ext cx="534352" cy="228600"/>
          </a:xfrm>
          <a:prstGeom prst="rect">
            <a:avLst/>
          </a:prstGeom>
          <a:noFill/>
        </p:spPr>
        <p:txBody>
          <a:bodyPr wrap="square" anchor="t" lIns="0" rIns="0" tIns="0" bIns="0">
            <a:spAutoFit/>
          </a:bodyPr>
          <a:lstStyle/>
          <a:p>
            <a:pPr algn="ctr"/>
            <a:r>
              <a:rPr sz="1000" b="0" i="0">
                <a:solidFill>
                  <a:srgbClr val="595959"/>
                </a:solidFill>
                <a:latin typeface="Calibri"/>
              </a:rPr>
              <a:t>4</a:t>
            </a:r>
          </a:p>
        </p:txBody>
      </p:sp>
      <p:sp>
        <p:nvSpPr>
          <p:cNvPr id="11" name="Rectangle 10"/>
          <p:cNvSpPr/>
          <p:nvPr/>
        </p:nvSpPr>
        <p:spPr>
          <a:xfrm>
            <a:off x="5337810" y="1554480"/>
            <a:ext cx="534352" cy="2340864"/>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TextBox 11"/>
          <p:cNvSpPr txBox="1"/>
          <p:nvPr/>
        </p:nvSpPr>
        <p:spPr>
          <a:xfrm>
            <a:off x="5337810" y="1298448"/>
            <a:ext cx="534352" cy="228600"/>
          </a:xfrm>
          <a:prstGeom prst="rect">
            <a:avLst/>
          </a:prstGeom>
          <a:noFill/>
        </p:spPr>
        <p:txBody>
          <a:bodyPr wrap="square" anchor="t" lIns="0" rIns="0" tIns="0" bIns="0">
            <a:spAutoFit/>
          </a:bodyPr>
          <a:lstStyle/>
          <a:p>
            <a:pPr algn="ctr"/>
            <a:r>
              <a:rPr sz="1000" b="0" i="0">
                <a:solidFill>
                  <a:srgbClr val="595959"/>
                </a:solidFill>
                <a:latin typeface="Calibri"/>
              </a:rPr>
              <a:t>5</a:t>
            </a:r>
          </a:p>
        </p:txBody>
      </p:sp>
      <p:sp>
        <p:nvSpPr>
          <p:cNvPr id="13" name="TextBox 12"/>
          <p:cNvSpPr txBox="1"/>
          <p:nvPr/>
        </p:nvSpPr>
        <p:spPr>
          <a:xfrm>
            <a:off x="5872162" y="1298448"/>
            <a:ext cx="534352" cy="228600"/>
          </a:xfrm>
          <a:prstGeom prst="rect">
            <a:avLst/>
          </a:prstGeom>
          <a:noFill/>
        </p:spPr>
        <p:txBody>
          <a:bodyPr wrap="square" anchor="t" lIns="0" rIns="0" tIns="0" bIns="0">
            <a:spAutoFit/>
          </a:bodyPr>
          <a:lstStyle/>
          <a:p>
            <a:pPr algn="ctr"/>
            <a:r>
              <a:rPr sz="1000" b="0" i="0">
                <a:solidFill>
                  <a:srgbClr val="595959"/>
                </a:solidFill>
                <a:latin typeface="Calibri"/>
              </a:rPr>
              <a:t>6</a:t>
            </a:r>
          </a:p>
        </p:txBody>
      </p:sp>
      <p:sp>
        <p:nvSpPr>
          <p:cNvPr id="14" name="Rectangle 13"/>
          <p:cNvSpPr/>
          <p:nvPr/>
        </p:nvSpPr>
        <p:spPr>
          <a:xfrm>
            <a:off x="6406515" y="1554480"/>
            <a:ext cx="534352" cy="2340864"/>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5" name="TextBox 14"/>
          <p:cNvSpPr txBox="1"/>
          <p:nvPr/>
        </p:nvSpPr>
        <p:spPr>
          <a:xfrm>
            <a:off x="6406515" y="1298448"/>
            <a:ext cx="534352" cy="228600"/>
          </a:xfrm>
          <a:prstGeom prst="rect">
            <a:avLst/>
          </a:prstGeom>
          <a:noFill/>
        </p:spPr>
        <p:txBody>
          <a:bodyPr wrap="square" anchor="t" lIns="0" rIns="0" tIns="0" bIns="0">
            <a:spAutoFit/>
          </a:bodyPr>
          <a:lstStyle/>
          <a:p>
            <a:pPr algn="ctr"/>
            <a:r>
              <a:rPr sz="1000" b="0" i="0">
                <a:solidFill>
                  <a:srgbClr val="595959"/>
                </a:solidFill>
                <a:latin typeface="Calibri"/>
              </a:rPr>
              <a:t>7</a:t>
            </a:r>
          </a:p>
        </p:txBody>
      </p:sp>
      <p:sp>
        <p:nvSpPr>
          <p:cNvPr id="16" name="TextBox 15"/>
          <p:cNvSpPr txBox="1"/>
          <p:nvPr/>
        </p:nvSpPr>
        <p:spPr>
          <a:xfrm>
            <a:off x="6940867" y="1298448"/>
            <a:ext cx="534352" cy="228600"/>
          </a:xfrm>
          <a:prstGeom prst="rect">
            <a:avLst/>
          </a:prstGeom>
          <a:noFill/>
        </p:spPr>
        <p:txBody>
          <a:bodyPr wrap="square" anchor="t" lIns="0" rIns="0" tIns="0" bIns="0">
            <a:spAutoFit/>
          </a:bodyPr>
          <a:lstStyle/>
          <a:p>
            <a:pPr algn="ctr"/>
            <a:r>
              <a:rPr sz="1000" b="0" i="0">
                <a:solidFill>
                  <a:srgbClr val="595959"/>
                </a:solidFill>
                <a:latin typeface="Calibri"/>
              </a:rPr>
              <a:t>8</a:t>
            </a:r>
          </a:p>
        </p:txBody>
      </p:sp>
      <p:sp>
        <p:nvSpPr>
          <p:cNvPr id="17" name="Rectangle 16"/>
          <p:cNvSpPr/>
          <p:nvPr/>
        </p:nvSpPr>
        <p:spPr>
          <a:xfrm>
            <a:off x="7475220" y="1554480"/>
            <a:ext cx="534352" cy="2340864"/>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8" name="TextBox 17"/>
          <p:cNvSpPr txBox="1"/>
          <p:nvPr/>
        </p:nvSpPr>
        <p:spPr>
          <a:xfrm>
            <a:off x="7475220" y="1298448"/>
            <a:ext cx="534352" cy="228600"/>
          </a:xfrm>
          <a:prstGeom prst="rect">
            <a:avLst/>
          </a:prstGeom>
          <a:noFill/>
        </p:spPr>
        <p:txBody>
          <a:bodyPr wrap="square" anchor="t" lIns="0" rIns="0" tIns="0" bIns="0">
            <a:spAutoFit/>
          </a:bodyPr>
          <a:lstStyle/>
          <a:p>
            <a:pPr algn="ctr"/>
            <a:r>
              <a:rPr sz="1000" b="0" i="0">
                <a:solidFill>
                  <a:srgbClr val="595959"/>
                </a:solidFill>
                <a:latin typeface="Calibri"/>
              </a:rPr>
              <a:t>9</a:t>
            </a:r>
          </a:p>
        </p:txBody>
      </p:sp>
      <p:sp>
        <p:nvSpPr>
          <p:cNvPr id="19" name="TextBox 18"/>
          <p:cNvSpPr txBox="1"/>
          <p:nvPr/>
        </p:nvSpPr>
        <p:spPr>
          <a:xfrm>
            <a:off x="8009572" y="1298448"/>
            <a:ext cx="534352" cy="228600"/>
          </a:xfrm>
          <a:prstGeom prst="rect">
            <a:avLst/>
          </a:prstGeom>
          <a:noFill/>
        </p:spPr>
        <p:txBody>
          <a:bodyPr wrap="square" anchor="t" lIns="0" rIns="0" tIns="0" bIns="0">
            <a:spAutoFit/>
          </a:bodyPr>
          <a:lstStyle/>
          <a:p>
            <a:pPr algn="ctr"/>
            <a:r>
              <a:rPr sz="1000" b="0" i="0">
                <a:solidFill>
                  <a:srgbClr val="595959"/>
                </a:solidFill>
                <a:latin typeface="Calibri"/>
              </a:rPr>
              <a:t>10</a:t>
            </a:r>
          </a:p>
        </p:txBody>
      </p:sp>
      <p:sp>
        <p:nvSpPr>
          <p:cNvPr id="20" name="Rectangle 19"/>
          <p:cNvSpPr/>
          <p:nvPr/>
        </p:nvSpPr>
        <p:spPr>
          <a:xfrm>
            <a:off x="8543925" y="1554480"/>
            <a:ext cx="534352" cy="2340864"/>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1" name="TextBox 20"/>
          <p:cNvSpPr txBox="1"/>
          <p:nvPr/>
        </p:nvSpPr>
        <p:spPr>
          <a:xfrm>
            <a:off x="8543925" y="1298448"/>
            <a:ext cx="534352" cy="228600"/>
          </a:xfrm>
          <a:prstGeom prst="rect">
            <a:avLst/>
          </a:prstGeom>
          <a:noFill/>
        </p:spPr>
        <p:txBody>
          <a:bodyPr wrap="square" anchor="t" lIns="0" rIns="0" tIns="0" bIns="0">
            <a:spAutoFit/>
          </a:bodyPr>
          <a:lstStyle/>
          <a:p>
            <a:pPr algn="ctr"/>
            <a:r>
              <a:rPr sz="1000" b="0" i="0">
                <a:solidFill>
                  <a:srgbClr val="595959"/>
                </a:solidFill>
                <a:latin typeface="Calibri"/>
              </a:rPr>
              <a:t>11</a:t>
            </a:r>
          </a:p>
        </p:txBody>
      </p:sp>
      <p:sp>
        <p:nvSpPr>
          <p:cNvPr id="22" name="TextBox 21"/>
          <p:cNvSpPr txBox="1"/>
          <p:nvPr/>
        </p:nvSpPr>
        <p:spPr>
          <a:xfrm>
            <a:off x="9078277" y="1298448"/>
            <a:ext cx="534352" cy="228600"/>
          </a:xfrm>
          <a:prstGeom prst="rect">
            <a:avLst/>
          </a:prstGeom>
          <a:noFill/>
        </p:spPr>
        <p:txBody>
          <a:bodyPr wrap="square" anchor="t" lIns="0" rIns="0" tIns="0" bIns="0">
            <a:spAutoFit/>
          </a:bodyPr>
          <a:lstStyle/>
          <a:p>
            <a:pPr algn="ctr"/>
            <a:r>
              <a:rPr sz="1000" b="0" i="0">
                <a:solidFill>
                  <a:srgbClr val="595959"/>
                </a:solidFill>
                <a:latin typeface="Calibri"/>
              </a:rPr>
              <a:t>12</a:t>
            </a:r>
          </a:p>
        </p:txBody>
      </p:sp>
      <p:sp>
        <p:nvSpPr>
          <p:cNvPr id="23" name="Rectangle 22"/>
          <p:cNvSpPr/>
          <p:nvPr/>
        </p:nvSpPr>
        <p:spPr>
          <a:xfrm>
            <a:off x="9612630" y="1554480"/>
            <a:ext cx="534352" cy="2340864"/>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4" name="TextBox 23"/>
          <p:cNvSpPr txBox="1"/>
          <p:nvPr/>
        </p:nvSpPr>
        <p:spPr>
          <a:xfrm>
            <a:off x="9612630" y="1298448"/>
            <a:ext cx="534352" cy="228600"/>
          </a:xfrm>
          <a:prstGeom prst="rect">
            <a:avLst/>
          </a:prstGeom>
          <a:noFill/>
        </p:spPr>
        <p:txBody>
          <a:bodyPr wrap="square" anchor="t" lIns="0" rIns="0" tIns="0" bIns="0">
            <a:spAutoFit/>
          </a:bodyPr>
          <a:lstStyle/>
          <a:p>
            <a:pPr algn="ctr"/>
            <a:r>
              <a:rPr sz="1000" b="0" i="0">
                <a:solidFill>
                  <a:srgbClr val="595959"/>
                </a:solidFill>
                <a:latin typeface="Calibri"/>
              </a:rPr>
              <a:t>13</a:t>
            </a:r>
          </a:p>
        </p:txBody>
      </p:sp>
      <p:sp>
        <p:nvSpPr>
          <p:cNvPr id="25" name="TextBox 24"/>
          <p:cNvSpPr txBox="1"/>
          <p:nvPr/>
        </p:nvSpPr>
        <p:spPr>
          <a:xfrm>
            <a:off x="10146982" y="1298448"/>
            <a:ext cx="534352" cy="228600"/>
          </a:xfrm>
          <a:prstGeom prst="rect">
            <a:avLst/>
          </a:prstGeom>
          <a:noFill/>
        </p:spPr>
        <p:txBody>
          <a:bodyPr wrap="square" anchor="t" lIns="0" rIns="0" tIns="0" bIns="0">
            <a:spAutoFit/>
          </a:bodyPr>
          <a:lstStyle/>
          <a:p>
            <a:pPr algn="ctr"/>
            <a:r>
              <a:rPr sz="1000" b="0" i="0">
                <a:solidFill>
                  <a:srgbClr val="595959"/>
                </a:solidFill>
                <a:latin typeface="Calibri"/>
              </a:rPr>
              <a:t>14</a:t>
            </a:r>
          </a:p>
        </p:txBody>
      </p:sp>
      <p:sp>
        <p:nvSpPr>
          <p:cNvPr id="26" name="Rectangle 25"/>
          <p:cNvSpPr/>
          <p:nvPr/>
        </p:nvSpPr>
        <p:spPr>
          <a:xfrm>
            <a:off x="10681335" y="1554480"/>
            <a:ext cx="534352" cy="2340864"/>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7" name="TextBox 26"/>
          <p:cNvSpPr txBox="1"/>
          <p:nvPr/>
        </p:nvSpPr>
        <p:spPr>
          <a:xfrm>
            <a:off x="10681335" y="1298448"/>
            <a:ext cx="534352" cy="228600"/>
          </a:xfrm>
          <a:prstGeom prst="rect">
            <a:avLst/>
          </a:prstGeom>
          <a:noFill/>
        </p:spPr>
        <p:txBody>
          <a:bodyPr wrap="square" anchor="t" lIns="0" rIns="0" tIns="0" bIns="0">
            <a:spAutoFit/>
          </a:bodyPr>
          <a:lstStyle/>
          <a:p>
            <a:pPr algn="ctr"/>
            <a:r>
              <a:rPr sz="1000" b="0" i="0">
                <a:solidFill>
                  <a:srgbClr val="595959"/>
                </a:solidFill>
                <a:latin typeface="Calibri"/>
              </a:rPr>
              <a:t>15</a:t>
            </a:r>
          </a:p>
        </p:txBody>
      </p:sp>
      <p:sp>
        <p:nvSpPr>
          <p:cNvPr id="28" name="TextBox 27"/>
          <p:cNvSpPr txBox="1"/>
          <p:nvPr/>
        </p:nvSpPr>
        <p:spPr>
          <a:xfrm>
            <a:off x="11215687" y="1298448"/>
            <a:ext cx="534352" cy="228600"/>
          </a:xfrm>
          <a:prstGeom prst="rect">
            <a:avLst/>
          </a:prstGeom>
          <a:noFill/>
        </p:spPr>
        <p:txBody>
          <a:bodyPr wrap="square" anchor="t" lIns="0" rIns="0" tIns="0" bIns="0">
            <a:spAutoFit/>
          </a:bodyPr>
          <a:lstStyle/>
          <a:p>
            <a:pPr algn="ctr"/>
            <a:r>
              <a:rPr sz="1000" b="0" i="0">
                <a:solidFill>
                  <a:srgbClr val="595959"/>
                </a:solidFill>
                <a:latin typeface="Calibri"/>
              </a:rPr>
              <a:t>16</a:t>
            </a:r>
          </a:p>
        </p:txBody>
      </p:sp>
      <p:sp>
        <p:nvSpPr>
          <p:cNvPr id="29" name="TextBox 28"/>
          <p:cNvSpPr txBox="1"/>
          <p:nvPr/>
        </p:nvSpPr>
        <p:spPr>
          <a:xfrm>
            <a:off x="457200" y="1298448"/>
            <a:ext cx="2651760" cy="228600"/>
          </a:xfrm>
          <a:prstGeom prst="rect">
            <a:avLst/>
          </a:prstGeom>
          <a:noFill/>
        </p:spPr>
        <p:txBody>
          <a:bodyPr wrap="square" anchor="t" lIns="0" rIns="0" tIns="0" bIns="0">
            <a:spAutoFit/>
          </a:bodyPr>
          <a:lstStyle/>
          <a:p>
            <a:pPr algn="r"/>
            <a:r>
              <a:rPr sz="1000" b="1" i="0">
                <a:solidFill>
                  <a:srgbClr val="595959"/>
                </a:solidFill>
                <a:latin typeface="Calibri"/>
              </a:rPr>
              <a:t>Week →</a:t>
            </a:r>
          </a:p>
        </p:txBody>
      </p:sp>
      <p:sp>
        <p:nvSpPr>
          <p:cNvPr id="30" name="TextBox 29"/>
          <p:cNvSpPr txBox="1"/>
          <p:nvPr/>
        </p:nvSpPr>
        <p:spPr>
          <a:xfrm>
            <a:off x="457200" y="1572768"/>
            <a:ext cx="2697480" cy="256032"/>
          </a:xfrm>
          <a:prstGeom prst="rect">
            <a:avLst/>
          </a:prstGeom>
          <a:noFill/>
        </p:spPr>
        <p:txBody>
          <a:bodyPr wrap="square" anchor="ctr" lIns="0" rIns="0" tIns="0" bIns="0">
            <a:spAutoFit/>
          </a:bodyPr>
          <a:lstStyle/>
          <a:p>
            <a:pPr algn="l"/>
            <a:r>
              <a:rPr sz="1100" b="0" i="0">
                <a:solidFill>
                  <a:srgbClr val="1A1A1A"/>
                </a:solidFill>
                <a:latin typeface="Calibri"/>
              </a:rPr>
              <a:t>P0  Spec + Connect-4 pipeline proof</a:t>
            </a:r>
          </a:p>
        </p:txBody>
      </p:sp>
      <p:sp>
        <p:nvSpPr>
          <p:cNvPr id="31" name="Rectangle 30"/>
          <p:cNvSpPr/>
          <p:nvPr/>
        </p:nvSpPr>
        <p:spPr>
          <a:xfrm>
            <a:off x="3227832" y="1600200"/>
            <a:ext cx="1013840" cy="2011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2" name="Diamond 31"/>
          <p:cNvSpPr/>
          <p:nvPr/>
        </p:nvSpPr>
        <p:spPr>
          <a:xfrm>
            <a:off x="4177665" y="1591056"/>
            <a:ext cx="219456" cy="219456"/>
          </a:xfrm>
          <a:prstGeom prst="diamond">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3" name="TextBox 32"/>
          <p:cNvSpPr txBox="1"/>
          <p:nvPr/>
        </p:nvSpPr>
        <p:spPr>
          <a:xfrm>
            <a:off x="457200" y="1865376"/>
            <a:ext cx="2697480" cy="256032"/>
          </a:xfrm>
          <a:prstGeom prst="rect">
            <a:avLst/>
          </a:prstGeom>
          <a:noFill/>
        </p:spPr>
        <p:txBody>
          <a:bodyPr wrap="square" anchor="ctr" lIns="0" rIns="0" tIns="0" bIns="0">
            <a:spAutoFit/>
          </a:bodyPr>
          <a:lstStyle/>
          <a:p>
            <a:pPr algn="l"/>
            <a:r>
              <a:rPr sz="1100" b="0" i="0">
                <a:solidFill>
                  <a:srgbClr val="1A1A1A"/>
                </a:solidFill>
                <a:latin typeface="Calibri"/>
              </a:rPr>
              <a:t>P1  Rules engine + perft</a:t>
            </a:r>
          </a:p>
        </p:txBody>
      </p:sp>
      <p:sp>
        <p:nvSpPr>
          <p:cNvPr id="34" name="Rectangle 33"/>
          <p:cNvSpPr/>
          <p:nvPr/>
        </p:nvSpPr>
        <p:spPr>
          <a:xfrm>
            <a:off x="4296537" y="1892807"/>
            <a:ext cx="1013840" cy="2011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5" name="Diamond 34"/>
          <p:cNvSpPr/>
          <p:nvPr/>
        </p:nvSpPr>
        <p:spPr>
          <a:xfrm>
            <a:off x="5246370" y="1883664"/>
            <a:ext cx="219456" cy="219456"/>
          </a:xfrm>
          <a:prstGeom prst="diamond">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6" name="TextBox 35"/>
          <p:cNvSpPr txBox="1"/>
          <p:nvPr/>
        </p:nvSpPr>
        <p:spPr>
          <a:xfrm>
            <a:off x="457200" y="2157984"/>
            <a:ext cx="2697480" cy="256032"/>
          </a:xfrm>
          <a:prstGeom prst="rect">
            <a:avLst/>
          </a:prstGeom>
          <a:noFill/>
        </p:spPr>
        <p:txBody>
          <a:bodyPr wrap="square" anchor="ctr" lIns="0" rIns="0" tIns="0" bIns="0">
            <a:spAutoFit/>
          </a:bodyPr>
          <a:lstStyle/>
          <a:p>
            <a:pPr algn="l"/>
            <a:r>
              <a:rPr sz="1100" b="0" i="0">
                <a:solidFill>
                  <a:srgbClr val="1A1A1A"/>
                </a:solidFill>
                <a:latin typeface="Calibri"/>
              </a:rPr>
              <a:t>P2  MCTS + network</a:t>
            </a:r>
          </a:p>
        </p:txBody>
      </p:sp>
      <p:sp>
        <p:nvSpPr>
          <p:cNvPr id="37" name="Rectangle 36"/>
          <p:cNvSpPr/>
          <p:nvPr/>
        </p:nvSpPr>
        <p:spPr>
          <a:xfrm>
            <a:off x="4296537" y="2185415"/>
            <a:ext cx="1548193" cy="2011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8" name="Diamond 37"/>
          <p:cNvSpPr/>
          <p:nvPr/>
        </p:nvSpPr>
        <p:spPr>
          <a:xfrm>
            <a:off x="5780722" y="2176272"/>
            <a:ext cx="219456" cy="219456"/>
          </a:xfrm>
          <a:prstGeom prst="diamond">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9" name="TextBox 38"/>
          <p:cNvSpPr txBox="1"/>
          <p:nvPr/>
        </p:nvSpPr>
        <p:spPr>
          <a:xfrm>
            <a:off x="457200" y="2450591"/>
            <a:ext cx="2697480" cy="256032"/>
          </a:xfrm>
          <a:prstGeom prst="rect">
            <a:avLst/>
          </a:prstGeom>
          <a:noFill/>
        </p:spPr>
        <p:txBody>
          <a:bodyPr wrap="square" anchor="ctr" lIns="0" rIns="0" tIns="0" bIns="0">
            <a:spAutoFit/>
          </a:bodyPr>
          <a:lstStyle/>
          <a:p>
            <a:pPr algn="l"/>
            <a:r>
              <a:rPr sz="1100" b="0" i="0">
                <a:solidFill>
                  <a:srgbClr val="1A1A1A"/>
                </a:solidFill>
                <a:latin typeface="Calibri"/>
              </a:rPr>
              <a:t>P3  Integration (500 games)</a:t>
            </a:r>
          </a:p>
        </p:txBody>
      </p:sp>
      <p:sp>
        <p:nvSpPr>
          <p:cNvPr id="40" name="Rectangle 39"/>
          <p:cNvSpPr/>
          <p:nvPr/>
        </p:nvSpPr>
        <p:spPr>
          <a:xfrm>
            <a:off x="5899594" y="2478023"/>
            <a:ext cx="479488" cy="2011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1" name="Diamond 40"/>
          <p:cNvSpPr/>
          <p:nvPr/>
        </p:nvSpPr>
        <p:spPr>
          <a:xfrm>
            <a:off x="6315075" y="2468879"/>
            <a:ext cx="219456" cy="219456"/>
          </a:xfrm>
          <a:prstGeom prst="diamond">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2" name="TextBox 41"/>
          <p:cNvSpPr txBox="1"/>
          <p:nvPr/>
        </p:nvSpPr>
        <p:spPr>
          <a:xfrm>
            <a:off x="457200" y="2743200"/>
            <a:ext cx="2697480" cy="256032"/>
          </a:xfrm>
          <a:prstGeom prst="rect">
            <a:avLst/>
          </a:prstGeom>
          <a:noFill/>
        </p:spPr>
        <p:txBody>
          <a:bodyPr wrap="square" anchor="ctr" lIns="0" rIns="0" tIns="0" bIns="0">
            <a:spAutoFit/>
          </a:bodyPr>
          <a:lstStyle/>
          <a:p>
            <a:pPr algn="l"/>
            <a:r>
              <a:rPr sz="1100" b="0" i="0">
                <a:solidFill>
                  <a:srgbClr val="1A1A1A"/>
                </a:solidFill>
                <a:latin typeface="Calibri"/>
              </a:rPr>
              <a:t>P4  Performance ≥ 25× + cloud soak</a:t>
            </a:r>
          </a:p>
        </p:txBody>
      </p:sp>
      <p:sp>
        <p:nvSpPr>
          <p:cNvPr id="43" name="Rectangle 42"/>
          <p:cNvSpPr/>
          <p:nvPr/>
        </p:nvSpPr>
        <p:spPr>
          <a:xfrm>
            <a:off x="6433947" y="2770632"/>
            <a:ext cx="1548193" cy="2011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4" name="Diamond 43"/>
          <p:cNvSpPr/>
          <p:nvPr/>
        </p:nvSpPr>
        <p:spPr>
          <a:xfrm>
            <a:off x="7918132" y="2761488"/>
            <a:ext cx="219456" cy="219456"/>
          </a:xfrm>
          <a:prstGeom prst="diamond">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5" name="TextBox 44"/>
          <p:cNvSpPr txBox="1"/>
          <p:nvPr/>
        </p:nvSpPr>
        <p:spPr>
          <a:xfrm>
            <a:off x="457200" y="3035808"/>
            <a:ext cx="2697480" cy="256032"/>
          </a:xfrm>
          <a:prstGeom prst="rect">
            <a:avLst/>
          </a:prstGeom>
          <a:noFill/>
        </p:spPr>
        <p:txBody>
          <a:bodyPr wrap="square" anchor="ctr" lIns="0" rIns="0" tIns="0" bIns="0">
            <a:spAutoFit/>
          </a:bodyPr>
          <a:lstStyle/>
          <a:p>
            <a:pPr algn="l"/>
            <a:r>
              <a:rPr sz="1100" b="0" i="0">
                <a:solidFill>
                  <a:srgbClr val="1A1A1A"/>
                </a:solidFill>
                <a:latin typeface="Calibri"/>
              </a:rPr>
              <a:t>P5  Main training · 300 iterations</a:t>
            </a:r>
          </a:p>
        </p:txBody>
      </p:sp>
      <p:sp>
        <p:nvSpPr>
          <p:cNvPr id="46" name="Rectangle 45"/>
          <p:cNvSpPr/>
          <p:nvPr/>
        </p:nvSpPr>
        <p:spPr>
          <a:xfrm>
            <a:off x="8037004" y="3063240"/>
            <a:ext cx="2082545" cy="2011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7" name="Diamond 46"/>
          <p:cNvSpPr/>
          <p:nvPr/>
        </p:nvSpPr>
        <p:spPr>
          <a:xfrm>
            <a:off x="10055542" y="3054096"/>
            <a:ext cx="219456" cy="219456"/>
          </a:xfrm>
          <a:prstGeom prst="diamond">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8" name="TextBox 47"/>
          <p:cNvSpPr txBox="1"/>
          <p:nvPr/>
        </p:nvSpPr>
        <p:spPr>
          <a:xfrm>
            <a:off x="457200" y="3328415"/>
            <a:ext cx="2697480" cy="256032"/>
          </a:xfrm>
          <a:prstGeom prst="rect">
            <a:avLst/>
          </a:prstGeom>
          <a:noFill/>
        </p:spPr>
        <p:txBody>
          <a:bodyPr wrap="square" anchor="ctr" lIns="0" rIns="0" tIns="0" bIns="0">
            <a:spAutoFit/>
          </a:bodyPr>
          <a:lstStyle/>
          <a:p>
            <a:pPr algn="l"/>
            <a:r>
              <a:rPr sz="1100" b="0" i="0">
                <a:solidFill>
                  <a:srgbClr val="1A1A1A"/>
                </a:solidFill>
                <a:latin typeface="Calibri"/>
              </a:rPr>
              <a:t>P6  Evaluation, Elo, ablations</a:t>
            </a:r>
          </a:p>
        </p:txBody>
      </p:sp>
      <p:sp>
        <p:nvSpPr>
          <p:cNvPr id="49" name="Rectangle 48"/>
          <p:cNvSpPr/>
          <p:nvPr/>
        </p:nvSpPr>
        <p:spPr>
          <a:xfrm>
            <a:off x="10174414" y="3355847"/>
            <a:ext cx="1013840" cy="2011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0" name="TextBox 49"/>
          <p:cNvSpPr txBox="1"/>
          <p:nvPr/>
        </p:nvSpPr>
        <p:spPr>
          <a:xfrm>
            <a:off x="457200" y="3621024"/>
            <a:ext cx="2697480" cy="256032"/>
          </a:xfrm>
          <a:prstGeom prst="rect">
            <a:avLst/>
          </a:prstGeom>
          <a:noFill/>
        </p:spPr>
        <p:txBody>
          <a:bodyPr wrap="square" anchor="ctr" lIns="0" rIns="0" tIns="0" bIns="0">
            <a:spAutoFit/>
          </a:bodyPr>
          <a:lstStyle/>
          <a:p>
            <a:pPr algn="l"/>
            <a:r>
              <a:rPr sz="1100" b="0" i="0">
                <a:solidFill>
                  <a:srgbClr val="1A1A1A"/>
                </a:solidFill>
                <a:latin typeface="Calibri"/>
              </a:rPr>
              <a:t>P7  Report</a:t>
            </a:r>
          </a:p>
        </p:txBody>
      </p:sp>
      <p:sp>
        <p:nvSpPr>
          <p:cNvPr id="51" name="Rectangle 50"/>
          <p:cNvSpPr/>
          <p:nvPr/>
        </p:nvSpPr>
        <p:spPr>
          <a:xfrm>
            <a:off x="11243119" y="3648456"/>
            <a:ext cx="479488" cy="2011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2" name="TextBox 51"/>
          <p:cNvSpPr txBox="1"/>
          <p:nvPr/>
        </p:nvSpPr>
        <p:spPr>
          <a:xfrm>
            <a:off x="8503920" y="3931920"/>
            <a:ext cx="3246120" cy="228600"/>
          </a:xfrm>
          <a:prstGeom prst="rect">
            <a:avLst/>
          </a:prstGeom>
          <a:noFill/>
        </p:spPr>
        <p:txBody>
          <a:bodyPr wrap="square" anchor="t" lIns="0" rIns="0" tIns="0" bIns="0">
            <a:spAutoFit/>
          </a:bodyPr>
          <a:lstStyle/>
          <a:p>
            <a:pPr algn="r"/>
            <a:r>
              <a:rPr sz="1000" b="1" i="0">
                <a:solidFill>
                  <a:srgbClr val="595959"/>
                </a:solidFill>
                <a:latin typeface="Calibri"/>
              </a:rPr>
              <a:t>◇ </a:t>
            </a:r>
            <a:r>
              <a:rPr sz="1000" b="0" i="0">
                <a:solidFill>
                  <a:srgbClr val="595959"/>
                </a:solidFill>
                <a:latin typeface="Calibri"/>
              </a:rPr>
              <a:t>gate with a numeric exit criterion</a:t>
            </a:r>
          </a:p>
        </p:txBody>
      </p:sp>
      <p:sp>
        <p:nvSpPr>
          <p:cNvPr id="53" name="Rectangle 52"/>
          <p:cNvSpPr/>
          <p:nvPr/>
        </p:nvSpPr>
        <p:spPr>
          <a:xfrm>
            <a:off x="457200" y="4242816"/>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4" name="Rectangle 53"/>
          <p:cNvSpPr/>
          <p:nvPr/>
        </p:nvSpPr>
        <p:spPr>
          <a:xfrm>
            <a:off x="457200" y="4343400"/>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5" name="Rectangle 54"/>
          <p:cNvSpPr/>
          <p:nvPr/>
        </p:nvSpPr>
        <p:spPr>
          <a:xfrm>
            <a:off x="557784" y="4242816"/>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6" name="Rectangle 55"/>
          <p:cNvSpPr/>
          <p:nvPr/>
        </p:nvSpPr>
        <p:spPr>
          <a:xfrm>
            <a:off x="557784" y="4343400"/>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7" name="TextBox 56"/>
          <p:cNvSpPr txBox="1"/>
          <p:nvPr/>
        </p:nvSpPr>
        <p:spPr>
          <a:xfrm>
            <a:off x="749808" y="4206240"/>
            <a:ext cx="3273552" cy="274320"/>
          </a:xfrm>
          <a:prstGeom prst="rect">
            <a:avLst/>
          </a:prstGeom>
          <a:noFill/>
        </p:spPr>
        <p:txBody>
          <a:bodyPr wrap="square" anchor="t" lIns="0" rIns="0" tIns="0" bIns="0">
            <a:spAutoFit/>
          </a:bodyPr>
          <a:lstStyle/>
          <a:p>
            <a:pPr algn="l"/>
            <a:r>
              <a:rPr sz="1200" b="1" i="0">
                <a:solidFill>
                  <a:srgbClr val="1A1A1A"/>
                </a:solidFill>
                <a:latin typeface="Calibri"/>
              </a:rPr>
              <a:t>VERIFICATION</a:t>
            </a:r>
          </a:p>
        </p:txBody>
      </p:sp>
      <p:sp>
        <p:nvSpPr>
          <p:cNvPr id="58" name="Rectangle 57"/>
          <p:cNvSpPr/>
          <p:nvPr/>
        </p:nvSpPr>
        <p:spPr>
          <a:xfrm>
            <a:off x="457200" y="4553712"/>
            <a:ext cx="1691640" cy="502920"/>
          </a:xfrm>
          <a:prstGeom prst="rect">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100" b="1" i="0">
                <a:solidFill>
                  <a:srgbClr val="FFFFFF"/>
                </a:solidFill>
                <a:latin typeface="Calibri"/>
              </a:rPr>
              <a:t>S1 production engine</a:t>
            </a:r>
          </a:p>
        </p:txBody>
      </p:sp>
      <p:sp>
        <p:nvSpPr>
          <p:cNvPr id="59" name="Rectangle 58"/>
          <p:cNvSpPr/>
          <p:nvPr/>
        </p:nvSpPr>
        <p:spPr>
          <a:xfrm>
            <a:off x="2331720" y="4553712"/>
            <a:ext cx="1691640" cy="50292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100" b="1" i="0">
                <a:solidFill>
                  <a:srgbClr val="1A1A1A"/>
                </a:solidFill>
                <a:latin typeface="Calibri"/>
              </a:rPr>
              <a:t>S3 reference engine</a:t>
            </a:r>
          </a:p>
          <a:p>
            <a:pPr algn="ctr"/>
            <a:r>
              <a:rPr sz="1000" b="0" i="0">
                <a:solidFill>
                  <a:srgbClr val="1A1A1A"/>
                </a:solidFill>
                <a:latin typeface="Calibri"/>
              </a:rPr>
              <a:t>written blind</a:t>
            </a:r>
          </a:p>
        </p:txBody>
      </p:sp>
      <p:cxnSp>
        <p:nvCxnSpPr>
          <p:cNvPr id="60" name="Connector 59"/>
          <p:cNvCxnSpPr/>
          <p:nvPr/>
        </p:nvCxnSpPr>
        <p:spPr>
          <a:xfrm>
            <a:off x="1303020" y="5074920"/>
            <a:ext cx="617220" cy="164592"/>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2560320" y="5074920"/>
            <a:ext cx="617220" cy="164592"/>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457200" y="5257800"/>
            <a:ext cx="3566160" cy="41148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100" b="1" i="0">
                <a:solidFill>
                  <a:srgbClr val="1A1A1A"/>
                </a:solidFill>
                <a:latin typeface="Calibri"/>
              </a:rPr>
              <a:t>Perft must match exactly: </a:t>
            </a:r>
            <a:r>
              <a:rPr sz="1100" b="0" i="0">
                <a:solidFill>
                  <a:srgbClr val="1A1A1A"/>
                </a:solidFill>
                <a:latin typeface="Calibri"/>
              </a:rPr>
              <a:t>depth 1–6 · 15 positions</a:t>
            </a:r>
          </a:p>
        </p:txBody>
      </p:sp>
      <p:cxnSp>
        <p:nvCxnSpPr>
          <p:cNvPr id="63" name="Connector 62"/>
          <p:cNvCxnSpPr/>
          <p:nvPr/>
        </p:nvCxnSpPr>
        <p:spPr>
          <a:xfrm>
            <a:off x="2240280" y="5687568"/>
            <a:ext cx="0" cy="164591"/>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457200" y="5870448"/>
            <a:ext cx="3566160" cy="384048"/>
          </a:xfrm>
          <a:prstGeom prst="rect">
            <a:avLst/>
          </a:prstGeom>
          <a:solidFill>
            <a:srgbClr val="F0F0F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100" b="0" i="0">
                <a:solidFill>
                  <a:srgbClr val="1A1A1A"/>
                </a:solidFill>
                <a:latin typeface="Calibri"/>
              </a:rPr>
              <a:t>Frozen perft_reference.json → CI regression suite</a:t>
            </a:r>
          </a:p>
        </p:txBody>
      </p:sp>
      <p:sp>
        <p:nvSpPr>
          <p:cNvPr id="65" name="Rectangle 64"/>
          <p:cNvSpPr/>
          <p:nvPr/>
        </p:nvSpPr>
        <p:spPr>
          <a:xfrm>
            <a:off x="4343400" y="4242816"/>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6" name="Rectangle 65"/>
          <p:cNvSpPr/>
          <p:nvPr/>
        </p:nvSpPr>
        <p:spPr>
          <a:xfrm>
            <a:off x="4343400" y="4343400"/>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7" name="Rectangle 66"/>
          <p:cNvSpPr/>
          <p:nvPr/>
        </p:nvSpPr>
        <p:spPr>
          <a:xfrm>
            <a:off x="4443984" y="4242816"/>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8" name="Rectangle 67"/>
          <p:cNvSpPr/>
          <p:nvPr/>
        </p:nvSpPr>
        <p:spPr>
          <a:xfrm>
            <a:off x="4443984" y="4343400"/>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9" name="TextBox 68"/>
          <p:cNvSpPr txBox="1"/>
          <p:nvPr/>
        </p:nvSpPr>
        <p:spPr>
          <a:xfrm>
            <a:off x="4636008" y="4206240"/>
            <a:ext cx="3273552" cy="274320"/>
          </a:xfrm>
          <a:prstGeom prst="rect">
            <a:avLst/>
          </a:prstGeom>
          <a:noFill/>
        </p:spPr>
        <p:txBody>
          <a:bodyPr wrap="square" anchor="t" lIns="0" rIns="0" tIns="0" bIns="0">
            <a:spAutoFit/>
          </a:bodyPr>
          <a:lstStyle/>
          <a:p>
            <a:pPr algn="l"/>
            <a:r>
              <a:rPr sz="1200" b="1" i="0">
                <a:solidFill>
                  <a:srgbClr val="1A1A1A"/>
                </a:solidFill>
                <a:latin typeface="Calibri"/>
              </a:rPr>
              <a:t>TEAM · ONE BOUNDARY EACH</a:t>
            </a:r>
          </a:p>
        </p:txBody>
      </p:sp>
      <p:sp>
        <p:nvSpPr>
          <p:cNvPr id="70" name="Rectangle 69"/>
          <p:cNvSpPr/>
          <p:nvPr/>
        </p:nvSpPr>
        <p:spPr>
          <a:xfrm>
            <a:off x="4343400" y="4572000"/>
            <a:ext cx="1783080" cy="868680"/>
          </a:xfrm>
          <a:prstGeom prst="rect">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FFFFFF"/>
                </a:solidFill>
                <a:latin typeface="Cambria"/>
              </a:rPr>
              <a:t>S1</a:t>
            </a:r>
          </a:p>
          <a:p>
            <a:pPr algn="ctr"/>
            <a:r>
              <a:rPr sz="1100" b="0" i="0">
                <a:solidFill>
                  <a:srgbClr val="FFFFFF"/>
                </a:solidFill>
                <a:latin typeface="Calibri"/>
              </a:rPr>
              <a:t>Rules &amp; engine</a:t>
            </a:r>
          </a:p>
        </p:txBody>
      </p:sp>
      <p:sp>
        <p:nvSpPr>
          <p:cNvPr id="71" name="Rectangle 70"/>
          <p:cNvSpPr/>
          <p:nvPr/>
        </p:nvSpPr>
        <p:spPr>
          <a:xfrm>
            <a:off x="6126480" y="4572000"/>
            <a:ext cx="1783080" cy="86868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00000"/>
                </a:solidFill>
                <a:latin typeface="Cambria"/>
              </a:rPr>
              <a:t>S2</a:t>
            </a:r>
          </a:p>
          <a:p>
            <a:pPr algn="ctr"/>
            <a:r>
              <a:rPr sz="1100" b="0" i="0">
                <a:solidFill>
                  <a:srgbClr val="000000"/>
                </a:solidFill>
                <a:latin typeface="Calibri"/>
              </a:rPr>
              <a:t>Search &amp; evaluation</a:t>
            </a:r>
          </a:p>
        </p:txBody>
      </p:sp>
      <p:sp>
        <p:nvSpPr>
          <p:cNvPr id="72" name="Rectangle 71"/>
          <p:cNvSpPr/>
          <p:nvPr/>
        </p:nvSpPr>
        <p:spPr>
          <a:xfrm>
            <a:off x="4343400" y="5440680"/>
            <a:ext cx="1783080" cy="86868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00000"/>
                </a:solidFill>
                <a:latin typeface="Cambria"/>
              </a:rPr>
              <a:t>S3</a:t>
            </a:r>
          </a:p>
          <a:p>
            <a:pPr algn="ctr"/>
            <a:r>
              <a:rPr sz="1100" b="0" i="0">
                <a:solidFill>
                  <a:srgbClr val="000000"/>
                </a:solidFill>
                <a:latin typeface="Calibri"/>
              </a:rPr>
              <a:t>Network &amp; training</a:t>
            </a:r>
          </a:p>
        </p:txBody>
      </p:sp>
      <p:sp>
        <p:nvSpPr>
          <p:cNvPr id="73" name="Rectangle 72"/>
          <p:cNvSpPr/>
          <p:nvPr/>
        </p:nvSpPr>
        <p:spPr>
          <a:xfrm>
            <a:off x="6126480" y="5440680"/>
            <a:ext cx="1783080" cy="868680"/>
          </a:xfrm>
          <a:prstGeom prst="rect">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FFFFFF"/>
                </a:solidFill>
                <a:latin typeface="Cambria"/>
              </a:rPr>
              <a:t>S4</a:t>
            </a:r>
          </a:p>
          <a:p>
            <a:pPr algn="ctr"/>
            <a:r>
              <a:rPr sz="1100" b="0" i="0">
                <a:solidFill>
                  <a:srgbClr val="FFFFFF"/>
                </a:solidFill>
                <a:latin typeface="Calibri"/>
              </a:rPr>
              <a:t>Pipeline &amp; cloud</a:t>
            </a:r>
          </a:p>
        </p:txBody>
      </p:sp>
      <p:sp>
        <p:nvSpPr>
          <p:cNvPr id="74" name="Rectangle 73"/>
          <p:cNvSpPr/>
          <p:nvPr/>
        </p:nvSpPr>
        <p:spPr>
          <a:xfrm>
            <a:off x="8229600" y="4242816"/>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5" name="Rectangle 74"/>
          <p:cNvSpPr/>
          <p:nvPr/>
        </p:nvSpPr>
        <p:spPr>
          <a:xfrm>
            <a:off x="8229600" y="4343400"/>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6" name="Rectangle 75"/>
          <p:cNvSpPr/>
          <p:nvPr/>
        </p:nvSpPr>
        <p:spPr>
          <a:xfrm>
            <a:off x="8330183" y="4242816"/>
            <a:ext cx="100584" cy="1005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7" name="Rectangle 76"/>
          <p:cNvSpPr/>
          <p:nvPr/>
        </p:nvSpPr>
        <p:spPr>
          <a:xfrm>
            <a:off x="8330183" y="4343400"/>
            <a:ext cx="100584" cy="1005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8" name="TextBox 77"/>
          <p:cNvSpPr txBox="1"/>
          <p:nvPr/>
        </p:nvSpPr>
        <p:spPr>
          <a:xfrm>
            <a:off x="8522208" y="4206240"/>
            <a:ext cx="3227832" cy="274320"/>
          </a:xfrm>
          <a:prstGeom prst="rect">
            <a:avLst/>
          </a:prstGeom>
          <a:noFill/>
        </p:spPr>
        <p:txBody>
          <a:bodyPr wrap="square" anchor="t" lIns="0" rIns="0" tIns="0" bIns="0">
            <a:spAutoFit/>
          </a:bodyPr>
          <a:lstStyle/>
          <a:p>
            <a:pPr algn="l"/>
            <a:r>
              <a:rPr sz="1200" b="1" i="0">
                <a:solidFill>
                  <a:srgbClr val="1A1A1A"/>
                </a:solidFill>
                <a:latin typeface="Calibri"/>
              </a:rPr>
              <a:t>TOP RISKS → MITIGATION</a:t>
            </a:r>
          </a:p>
        </p:txBody>
      </p:sp>
      <p:sp>
        <p:nvSpPr>
          <p:cNvPr id="79" name="Rectangle 78"/>
          <p:cNvSpPr/>
          <p:nvPr/>
        </p:nvSpPr>
        <p:spPr>
          <a:xfrm>
            <a:off x="8229600" y="4572000"/>
            <a:ext cx="1188720" cy="512064"/>
          </a:xfrm>
          <a:prstGeom prst="rect">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i="0">
                <a:solidFill>
                  <a:srgbClr val="FFFFFF"/>
                </a:solidFill>
                <a:latin typeface="Calibri"/>
              </a:rPr>
              <a:t>Endless games</a:t>
            </a:r>
          </a:p>
        </p:txBody>
      </p:sp>
      <p:cxnSp>
        <p:nvCxnSpPr>
          <p:cNvPr id="80" name="Connector 79"/>
          <p:cNvCxnSpPr/>
          <p:nvPr/>
        </p:nvCxnSpPr>
        <p:spPr>
          <a:xfrm>
            <a:off x="9436608" y="4828032"/>
            <a:ext cx="192024"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9674352" y="4572000"/>
            <a:ext cx="2075688" cy="512064"/>
          </a:xfrm>
          <a:prstGeom prst="rect">
            <a:avLst/>
          </a:prstGeom>
          <a:noFill/>
        </p:spPr>
        <p:txBody>
          <a:bodyPr wrap="square" anchor="ctr" lIns="0" rIns="0" tIns="0" bIns="0">
            <a:spAutoFit/>
          </a:bodyPr>
          <a:lstStyle/>
          <a:p>
            <a:pPr algn="l"/>
            <a:r>
              <a:rPr sz="1100" b="0" i="0">
                <a:solidFill>
                  <a:srgbClr val="1A1A1A"/>
                </a:solidFill>
                <a:latin typeface="Calibri"/>
              </a:rPr>
              <a:t>300-ply cap, material adjudication, cap-rate monitored</a:t>
            </a:r>
          </a:p>
        </p:txBody>
      </p:sp>
      <p:sp>
        <p:nvSpPr>
          <p:cNvPr id="82" name="Rectangle 81"/>
          <p:cNvSpPr/>
          <p:nvPr/>
        </p:nvSpPr>
        <p:spPr>
          <a:xfrm>
            <a:off x="8229600" y="5175504"/>
            <a:ext cx="1188720" cy="512064"/>
          </a:xfrm>
          <a:prstGeom prst="rect">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i="0">
                <a:solidFill>
                  <a:srgbClr val="FFFFFF"/>
                </a:solidFill>
                <a:latin typeface="Calibri"/>
              </a:rPr>
              <a:t>GPU quota denied</a:t>
            </a:r>
          </a:p>
        </p:txBody>
      </p:sp>
      <p:cxnSp>
        <p:nvCxnSpPr>
          <p:cNvPr id="83" name="Connector 82"/>
          <p:cNvCxnSpPr/>
          <p:nvPr/>
        </p:nvCxnSpPr>
        <p:spPr>
          <a:xfrm>
            <a:off x="9436608" y="5431536"/>
            <a:ext cx="192024"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9674352" y="5175504"/>
            <a:ext cx="2075688" cy="512064"/>
          </a:xfrm>
          <a:prstGeom prst="rect">
            <a:avLst/>
          </a:prstGeom>
          <a:noFill/>
        </p:spPr>
        <p:txBody>
          <a:bodyPr wrap="square" anchor="ctr" lIns="0" rIns="0" tIns="0" bIns="0">
            <a:spAutoFit/>
          </a:bodyPr>
          <a:lstStyle/>
          <a:p>
            <a:pPr algn="l"/>
            <a:r>
              <a:rPr sz="1100" b="0" i="0">
                <a:solidFill>
                  <a:srgbClr val="1A1A1A"/>
                </a:solidFill>
                <a:latin typeface="Calibri"/>
              </a:rPr>
              <a:t>Request on day 1; fallback to local 3060 (Tier B)</a:t>
            </a:r>
          </a:p>
        </p:txBody>
      </p:sp>
      <p:sp>
        <p:nvSpPr>
          <p:cNvPr id="85" name="Rectangle 84"/>
          <p:cNvSpPr/>
          <p:nvPr/>
        </p:nvSpPr>
        <p:spPr>
          <a:xfrm>
            <a:off x="8229600" y="5779008"/>
            <a:ext cx="1188720" cy="512064"/>
          </a:xfrm>
          <a:prstGeom prst="rect">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i="0">
                <a:solidFill>
                  <a:srgbClr val="FFFFFF"/>
                </a:solidFill>
                <a:latin typeface="Calibri"/>
              </a:rPr>
              <a:t>Sign errors</a:t>
            </a:r>
          </a:p>
        </p:txBody>
      </p:sp>
      <p:cxnSp>
        <p:nvCxnSpPr>
          <p:cNvPr id="86" name="Connector 85"/>
          <p:cNvCxnSpPr/>
          <p:nvPr/>
        </p:nvCxnSpPr>
        <p:spPr>
          <a:xfrm>
            <a:off x="9436608" y="6035040"/>
            <a:ext cx="192024"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9674352" y="5779008"/>
            <a:ext cx="2075688" cy="512064"/>
          </a:xfrm>
          <a:prstGeom prst="rect">
            <a:avLst/>
          </a:prstGeom>
          <a:noFill/>
        </p:spPr>
        <p:txBody>
          <a:bodyPr wrap="square" anchor="ctr" lIns="0" rIns="0" tIns="0" bIns="0">
            <a:spAutoFit/>
          </a:bodyPr>
          <a:lstStyle/>
          <a:p>
            <a:pPr algn="l"/>
            <a:r>
              <a:rPr sz="1100" b="0" i="0">
                <a:solidFill>
                  <a:srgbClr val="1A1A1A"/>
                </a:solidFill>
                <a:latin typeface="Calibri"/>
              </a:rPr>
              <a:t>Backup &amp; stalemate tests written before the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